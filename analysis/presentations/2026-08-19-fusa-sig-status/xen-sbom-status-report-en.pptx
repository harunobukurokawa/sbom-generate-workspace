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32720" cy="457200"/>
          </a:xfrm>
          <a:prstGeom prst="rect">
            <a:avLst/>
          </a:prstGeom>
          <a:noFill/>
        </p:spPr>
        <p:txBody>
          <a:bodyPr wrap="square">
            <a:spAutoFit/>
          </a:bodyPr>
          <a:lstStyle/>
          <a:p>
            <a:pPr algn="l"/>
            <a:r>
              <a:rPr sz="1600" b="1">
                <a:solidFill>
                  <a:srgbClr val="9FC7E8"/>
                </a:solidFill>
                <a:latin typeface="Calibri"/>
              </a:rPr>
              <a:t>SPDX SBOM Generation for Xen Hypervisor</a:t>
            </a:r>
          </a:p>
        </p:txBody>
      </p:sp>
      <p:sp>
        <p:nvSpPr>
          <p:cNvPr id="5" name="TextBox 4"/>
          <p:cNvSpPr txBox="1"/>
          <p:nvPr/>
        </p:nvSpPr>
        <p:spPr>
          <a:xfrm>
            <a:off x="914400" y="2514600"/>
            <a:ext cx="10332720" cy="1188720"/>
          </a:xfrm>
          <a:prstGeom prst="rect">
            <a:avLst/>
          </a:prstGeom>
          <a:noFill/>
        </p:spPr>
        <p:txBody>
          <a:bodyPr wrap="square">
            <a:spAutoFit/>
          </a:bodyPr>
          <a:lstStyle/>
          <a:p>
            <a:pPr algn="l"/>
            <a:r>
              <a:rPr sz="4400" b="1">
                <a:solidFill>
                  <a:srgbClr val="FFFFFF"/>
                </a:solidFill>
                <a:latin typeface="Calibri"/>
              </a:rPr>
              <a:t>Project Status Update</a:t>
            </a:r>
          </a:p>
        </p:txBody>
      </p:sp>
      <p:sp>
        <p:nvSpPr>
          <p:cNvPr id="6" name="TextBox 5"/>
          <p:cNvSpPr txBox="1"/>
          <p:nvPr/>
        </p:nvSpPr>
        <p:spPr>
          <a:xfrm>
            <a:off x="914400" y="4160520"/>
            <a:ext cx="10332720" cy="457200"/>
          </a:xfrm>
          <a:prstGeom prst="rect">
            <a:avLst/>
          </a:prstGeom>
          <a:noFill/>
        </p:spPr>
        <p:txBody>
          <a:bodyPr wrap="square">
            <a:spAutoFit/>
          </a:bodyPr>
          <a:lstStyle/>
          <a:p>
            <a:pPr algn="l"/>
            <a:r>
              <a:rPr sz="1800" b="0">
                <a:solidFill>
                  <a:srgbClr val="CCD8E6"/>
                </a:solidFill>
                <a:latin typeface="Calibri"/>
              </a:rPr>
              <a:t>For sharing with the Xen Functional Safety (FuSa) SIG</a:t>
            </a:r>
          </a:p>
        </p:txBody>
      </p:sp>
      <p:sp>
        <p:nvSpPr>
          <p:cNvPr id="7" name="TextBox 6"/>
          <p:cNvSpPr txBox="1"/>
          <p:nvPr/>
        </p:nvSpPr>
        <p:spPr>
          <a:xfrm>
            <a:off x="914400" y="6035040"/>
            <a:ext cx="10332720" cy="457200"/>
          </a:xfrm>
          <a:prstGeom prst="rect">
            <a:avLst/>
          </a:prstGeom>
          <a:noFill/>
        </p:spPr>
        <p:txBody>
          <a:bodyPr wrap="square">
            <a:spAutoFit/>
          </a:bodyPr>
          <a:lstStyle/>
          <a:p>
            <a:pPr algn="l"/>
            <a:r>
              <a:rPr sz="1300" b="0">
                <a:solidFill>
                  <a:srgbClr val="8A9BB0"/>
                </a:solidFill>
                <a:latin typeface="Calibri"/>
              </a:rPr>
              <a:t>Collaboration: Harunobu Kurokawa / 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OVERVIEW</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Summary</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2/10</a:t>
            </a:r>
          </a:p>
        </p:txBody>
      </p:sp>
      <p:sp>
        <p:nvSpPr>
          <p:cNvPr id="7" name="TextBox 6"/>
          <p:cNvSpPr txBox="1"/>
          <p:nvPr/>
        </p:nvSpPr>
        <p:spPr>
          <a:xfrm>
            <a:off x="548640" y="1371600"/>
            <a:ext cx="11064240" cy="2926080"/>
          </a:xfrm>
          <a:prstGeom prst="rect">
            <a:avLst/>
          </a:prstGeom>
          <a:noFill/>
        </p:spPr>
        <p:txBody>
          <a:bodyPr wrap="square">
            <a:spAutoFit/>
          </a:bodyPr>
          <a:lstStyle/>
          <a:p>
            <a:pPr>
              <a:lnSpc>
                <a:spcPct val="110000"/>
              </a:lnSpc>
              <a:spcAft>
                <a:spcPts val="1400"/>
              </a:spcAft>
            </a:pPr>
            <a:r>
              <a:rPr sz="1900" b="0">
                <a:solidFill>
                  <a:srgbClr val="1B2A4A"/>
                </a:solidFill>
                <a:latin typeface="Calibri"/>
              </a:rPr>
              <a:t>■  Goal: reuse the SPDX-SBOM generation tool already merged into the</a:t>
            </a:r>
          </a:p>
          <a:p>
            <a:pPr>
              <a:lnSpc>
                <a:spcPct val="110000"/>
              </a:lnSpc>
              <a:spcAft>
                <a:spcPts val="1400"/>
              </a:spcAft>
            </a:pPr>
            <a:r>
              <a:rPr sz="1500" b="0">
                <a:solidFill>
                  <a:srgbClr val="1B2A4A"/>
                </a:solidFill>
                <a:latin typeface="Calibri"/>
              </a:rPr>
              <a:t>–  Linux kernel (scripts/sbom/, “KernelSbom”, v7.0) to automatically</a:t>
            </a:r>
          </a:p>
          <a:p>
            <a:pPr>
              <a:lnSpc>
                <a:spcPct val="110000"/>
              </a:lnSpc>
              <a:spcAft>
                <a:spcPts val="1400"/>
              </a:spcAft>
            </a:pPr>
            <a:r>
              <a:rPr sz="1500" b="0">
                <a:solidFill>
                  <a:srgbClr val="1B2A4A"/>
                </a:solidFill>
                <a:latin typeface="Calibri"/>
              </a:rPr>
              <a:t>–  generate an SPDX 3.0.1 SBOM for the Xen hypervisor itself</a:t>
            </a:r>
          </a:p>
          <a:p>
            <a:pPr>
              <a:lnSpc>
                <a:spcPct val="110000"/>
              </a:lnSpc>
              <a:spcAft>
                <a:spcPts val="1400"/>
              </a:spcAft>
            </a:pPr>
            <a:r>
              <a:rPr sz="1900" b="0">
                <a:solidFill>
                  <a:srgbClr val="1B2A4A"/>
                </a:solidFill>
                <a:latin typeface="Calibri"/>
              </a:rPr>
              <a:t>■  Background: support Xen’s functional safety (FuSa) effort — IEC 61508</a:t>
            </a:r>
          </a:p>
          <a:p>
            <a:pPr>
              <a:lnSpc>
                <a:spcPct val="110000"/>
              </a:lnSpc>
              <a:spcAft>
                <a:spcPts val="1400"/>
              </a:spcAft>
            </a:pPr>
            <a:r>
              <a:rPr sz="1500" b="0">
                <a:solidFill>
                  <a:srgbClr val="1B2A4A"/>
                </a:solidFill>
                <a:latin typeface="Calibri"/>
              </a:rPr>
              <a:t>–  / ISO 26262 — through SBOM generation and traceability</a:t>
            </a:r>
          </a:p>
          <a:p>
            <a:pPr>
              <a:lnSpc>
                <a:spcPct val="110000"/>
              </a:lnSpc>
              <a:spcAft>
                <a:spcPts val="1400"/>
              </a:spcAft>
            </a:pPr>
            <a:r>
              <a:rPr sz="1900" b="0">
                <a:solidFill>
                  <a:srgbClr val="1B2A4A"/>
                </a:solidFill>
                <a:latin typeface="Calibri"/>
              </a:rPr>
              <a:t>■  Approach taken: use the upstream KernelSbom unmodified, and add</a:t>
            </a:r>
          </a:p>
          <a:p>
            <a:pPr>
              <a:lnSpc>
                <a:spcPct val="110000"/>
              </a:lnSpc>
              <a:spcAft>
                <a:spcPts val="1400"/>
              </a:spcAft>
            </a:pPr>
            <a:r>
              <a:rPr sz="1500" b="0">
                <a:solidFill>
                  <a:srgbClr val="1B2A4A"/>
                </a:solidFill>
                <a:latin typeface="Calibri"/>
              </a:rPr>
              <a:t>–  all Xen-specific handling only at runtime</a:t>
            </a:r>
          </a:p>
        </p:txBody>
      </p:sp>
      <p:sp>
        <p:nvSpPr>
          <p:cNvPr id="8" name="Rectangle 7"/>
          <p:cNvSpPr/>
          <p:nvPr/>
        </p:nvSpPr>
        <p:spPr>
          <a:xfrm>
            <a:off x="548640" y="4480560"/>
            <a:ext cx="11064240" cy="1463040"/>
          </a:xfrm>
          <a:prstGeom prst="rect">
            <a:avLst/>
          </a:prstGeom>
          <a:solidFill>
            <a:srgbClr val="E8F3EE"/>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572000"/>
            <a:ext cx="10515600" cy="365760"/>
          </a:xfrm>
          <a:prstGeom prst="rect">
            <a:avLst/>
          </a:prstGeom>
          <a:noFill/>
        </p:spPr>
        <p:txBody>
          <a:bodyPr wrap="square">
            <a:spAutoFit/>
          </a:bodyPr>
          <a:lstStyle/>
          <a:p>
            <a:pPr algn="l"/>
            <a:r>
              <a:rPr sz="1500" b="1">
                <a:solidFill>
                  <a:srgbClr val="2E7D32"/>
                </a:solidFill>
                <a:latin typeface="Calibri"/>
              </a:rPr>
              <a:t>Conclusion</a:t>
            </a:r>
          </a:p>
        </p:txBody>
      </p:sp>
      <p:sp>
        <p:nvSpPr>
          <p:cNvPr id="10" name="TextBox 9"/>
          <p:cNvSpPr txBox="1"/>
          <p:nvPr/>
        </p:nvSpPr>
        <p:spPr>
          <a:xfrm>
            <a:off x="822960" y="4937760"/>
            <a:ext cx="10515600" cy="914400"/>
          </a:xfrm>
          <a:prstGeom prst="rect">
            <a:avLst/>
          </a:prstGeom>
          <a:noFill/>
        </p:spPr>
        <p:txBody>
          <a:bodyPr wrap="square">
            <a:spAutoFit/>
          </a:bodyPr>
          <a:lstStyle/>
          <a:p>
            <a:pPr algn="l">
              <a:lnSpc>
                <a:spcPct val="130000"/>
              </a:lnSpc>
            </a:pPr>
            <a:r>
              <a:rPr sz="1800" b="1">
                <a:solidFill>
                  <a:srgbClr val="1B2A4A"/>
                </a:solidFill>
                <a:latin typeface="Calibri"/>
              </a:rPr>
              <a:t>The upstream tool has been proven directly reusable, unmodified, for the Xen</a:t>
            </a:r>
          </a:p>
          <a:p>
            <a:pPr algn="l">
              <a:lnSpc>
                <a:spcPct val="130000"/>
              </a:lnSpc>
            </a:pPr>
            <a:r>
              <a:rPr sz="1800" b="1">
                <a:solidFill>
                  <a:srgbClr val="1B2A4A"/>
                </a:solidFill>
                <a:latin typeface="Calibri"/>
              </a:rPr>
              <a:t>hypervisor on both x86_64 and arm64.</a:t>
            </a:r>
          </a:p>
        </p:txBody>
      </p:sp>
      <p:sp>
        <p:nvSpPr>
          <p:cNvPr id="11" name="TextBox 10"/>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TRIAL FLOW</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SBOM Generation: Trial Flow</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3/10</a:t>
            </a:r>
          </a:p>
        </p:txBody>
      </p:sp>
      <p:sp>
        <p:nvSpPr>
          <p:cNvPr id="7" name="Rectangle 6"/>
          <p:cNvSpPr/>
          <p:nvPr/>
        </p:nvSpPr>
        <p:spPr>
          <a:xfrm>
            <a:off x="548640" y="1280160"/>
            <a:ext cx="3383280" cy="1737360"/>
          </a:xfrm>
          <a:prstGeom prst="rect">
            <a:avLst/>
          </a:prstGeom>
          <a:solidFill>
            <a:srgbClr val="F4F6F9"/>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71600"/>
            <a:ext cx="3017520" cy="640080"/>
          </a:xfrm>
          <a:prstGeom prst="rect">
            <a:avLst/>
          </a:prstGeom>
          <a:noFill/>
        </p:spPr>
        <p:txBody>
          <a:bodyPr wrap="square">
            <a:spAutoFit/>
          </a:bodyPr>
          <a:lstStyle/>
          <a:p>
            <a:pPr algn="l"/>
            <a:r>
              <a:rPr sz="1500" b="1">
                <a:solidFill>
                  <a:srgbClr val="1B2A4A"/>
                </a:solidFill>
                <a:latin typeface="Calibri"/>
              </a:rPr>
              <a:t>① Upstream tool (KernelSbom)</a:t>
            </a:r>
          </a:p>
        </p:txBody>
      </p:sp>
      <p:sp>
        <p:nvSpPr>
          <p:cNvPr id="9" name="TextBox 8"/>
          <p:cNvSpPr txBox="1"/>
          <p:nvPr/>
        </p:nvSpPr>
        <p:spPr>
          <a:xfrm>
            <a:off x="731520" y="1965960"/>
            <a:ext cx="3017520" cy="1005840"/>
          </a:xfrm>
          <a:prstGeom prst="rect">
            <a:avLst/>
          </a:prstGeom>
          <a:noFill/>
        </p:spPr>
        <p:txBody>
          <a:bodyPr wrap="square">
            <a:spAutoFit/>
          </a:bodyPr>
          <a:lstStyle/>
          <a:p>
            <a:pPr algn="l">
              <a:lnSpc>
                <a:spcPct val="120000"/>
              </a:lnSpc>
            </a:pPr>
            <a:r>
              <a:rPr sz="1250" b="0">
                <a:solidFill>
                  <a:srgbClr val="555555"/>
                </a:solidFill>
                <a:latin typeface="Calibri"/>
              </a:rPr>
              <a:t>The SBOM generation tool already</a:t>
            </a:r>
          </a:p>
          <a:p>
            <a:pPr algn="l">
              <a:lnSpc>
                <a:spcPct val="120000"/>
              </a:lnSpc>
            </a:pPr>
            <a:r>
              <a:rPr sz="1250" b="0">
                <a:solidFill>
                  <a:srgbClr val="555555"/>
                </a:solidFill>
                <a:latin typeface="Calibri"/>
              </a:rPr>
              <a:t>merged into the Linux kernel</a:t>
            </a:r>
          </a:p>
          <a:p>
            <a:pPr algn="l">
              <a:lnSpc>
                <a:spcPct val="120000"/>
              </a:lnSpc>
            </a:pPr>
            <a:r>
              <a:rPr sz="1250" b="0">
                <a:solidFill>
                  <a:srgbClr val="555555"/>
                </a:solidFill>
                <a:latin typeface="Calibri"/>
              </a:rPr>
              <a:t>(unmodified). Walks Kbuild's .cmd</a:t>
            </a:r>
          </a:p>
          <a:p>
            <a:pPr algn="l">
              <a:lnSpc>
                <a:spcPct val="120000"/>
              </a:lnSpc>
            </a:pPr>
            <a:r>
              <a:rPr sz="1250" b="0">
                <a:solidFill>
                  <a:srgbClr val="555555"/>
                </a:solidFill>
                <a:latin typeface="Calibri"/>
              </a:rPr>
              <a:t>files to build the command graph</a:t>
            </a:r>
          </a:p>
        </p:txBody>
      </p:sp>
      <p:sp>
        <p:nvSpPr>
          <p:cNvPr id="10" name="Right Arrow 9"/>
          <p:cNvSpPr/>
          <p:nvPr/>
        </p:nvSpPr>
        <p:spPr>
          <a:xfrm>
            <a:off x="3961920" y="2011680"/>
            <a:ext cx="351480" cy="45720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280160"/>
            <a:ext cx="3383280" cy="1737360"/>
          </a:xfrm>
          <a:prstGeom prst="rect">
            <a:avLst/>
          </a:prstGeom>
          <a:solidFill>
            <a:srgbClr val="F4F6F9"/>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371600"/>
            <a:ext cx="3017520" cy="640080"/>
          </a:xfrm>
          <a:prstGeom prst="rect">
            <a:avLst/>
          </a:prstGeom>
          <a:noFill/>
        </p:spPr>
        <p:txBody>
          <a:bodyPr wrap="square">
            <a:spAutoFit/>
          </a:bodyPr>
          <a:lstStyle/>
          <a:p>
            <a:pPr algn="l"/>
            <a:r>
              <a:rPr sz="1500" b="1">
                <a:solidFill>
                  <a:srgbClr val="1B2A4A"/>
                </a:solidFill>
                <a:latin typeface="Calibri"/>
              </a:rPr>
              <a:t>② Runtime injection of Xen extensions</a:t>
            </a:r>
          </a:p>
        </p:txBody>
      </p:sp>
      <p:sp>
        <p:nvSpPr>
          <p:cNvPr id="13" name="TextBox 12"/>
          <p:cNvSpPr txBox="1"/>
          <p:nvPr/>
        </p:nvSpPr>
        <p:spPr>
          <a:xfrm>
            <a:off x="4526280" y="1965960"/>
            <a:ext cx="3017520" cy="1005840"/>
          </a:xfrm>
          <a:prstGeom prst="rect">
            <a:avLst/>
          </a:prstGeom>
          <a:noFill/>
        </p:spPr>
        <p:txBody>
          <a:bodyPr wrap="square">
            <a:spAutoFit/>
          </a:bodyPr>
          <a:lstStyle/>
          <a:p>
            <a:pPr algn="l">
              <a:lnSpc>
                <a:spcPct val="120000"/>
              </a:lnSpc>
            </a:pPr>
            <a:r>
              <a:rPr sz="1250" b="0">
                <a:solidFill>
                  <a:srgbClr val="555555"/>
                </a:solidFill>
                <a:latin typeface="Calibri"/>
              </a:rPr>
              <a:t>xen_parsers.py (the extension</a:t>
            </a:r>
          </a:p>
          <a:p>
            <a:pPr algn="l">
              <a:lnSpc>
                <a:spcPct val="120000"/>
              </a:lnSpc>
            </a:pPr>
            <a:r>
              <a:rPr sz="1250" b="0">
                <a:solidFill>
                  <a:srgbClr val="555555"/>
                </a:solidFill>
                <a:latin typeface="Calibri"/>
              </a:rPr>
              <a:t>file provided by this project) adds</a:t>
            </a:r>
          </a:p>
          <a:p>
            <a:pPr algn="l">
              <a:lnSpc>
                <a:spcPct val="120000"/>
              </a:lnSpc>
            </a:pPr>
            <a:r>
              <a:rPr sz="1250" b="0">
                <a:solidFill>
                  <a:srgbClr val="555555"/>
                </a:solidFill>
                <a:latin typeface="Calibri"/>
              </a:rPr>
              <a:t>Xen-specific parsers into the</a:t>
            </a:r>
          </a:p>
          <a:p>
            <a:pPr algn="l">
              <a:lnSpc>
                <a:spcPct val="120000"/>
              </a:lnSpc>
            </a:pPr>
            <a:r>
              <a:rPr sz="1250" b="0">
                <a:solidFill>
                  <a:srgbClr val="555555"/>
                </a:solidFill>
                <a:latin typeface="Calibri"/>
              </a:rPr>
              <a:t>shared module while it runs</a:t>
            </a:r>
          </a:p>
        </p:txBody>
      </p:sp>
      <p:sp>
        <p:nvSpPr>
          <p:cNvPr id="14" name="Right Arrow 13"/>
          <p:cNvSpPr/>
          <p:nvPr/>
        </p:nvSpPr>
        <p:spPr>
          <a:xfrm>
            <a:off x="7756680" y="2011680"/>
            <a:ext cx="351480" cy="45720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280160"/>
            <a:ext cx="3383280" cy="1737360"/>
          </a:xfrm>
          <a:prstGeom prst="rect">
            <a:avLst/>
          </a:prstGeom>
          <a:solidFill>
            <a:srgbClr val="F4F6F9"/>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371600"/>
            <a:ext cx="3017520" cy="640080"/>
          </a:xfrm>
          <a:prstGeom prst="rect">
            <a:avLst/>
          </a:prstGeom>
          <a:noFill/>
        </p:spPr>
        <p:txBody>
          <a:bodyPr wrap="square">
            <a:spAutoFit/>
          </a:bodyPr>
          <a:lstStyle/>
          <a:p>
            <a:pPr algn="l"/>
            <a:r>
              <a:rPr sz="1500" b="1">
                <a:solidFill>
                  <a:srgbClr val="1B2A4A"/>
                </a:solidFill>
                <a:latin typeface="Calibri"/>
              </a:rPr>
              <a:t>③ Generated Xen SPDX SBOM</a:t>
            </a:r>
          </a:p>
        </p:txBody>
      </p:sp>
      <p:sp>
        <p:nvSpPr>
          <p:cNvPr id="17" name="TextBox 16"/>
          <p:cNvSpPr txBox="1"/>
          <p:nvPr/>
        </p:nvSpPr>
        <p:spPr>
          <a:xfrm>
            <a:off x="8321040" y="1965960"/>
            <a:ext cx="3017520" cy="1005840"/>
          </a:xfrm>
          <a:prstGeom prst="rect">
            <a:avLst/>
          </a:prstGeom>
          <a:noFill/>
        </p:spPr>
        <p:txBody>
          <a:bodyPr wrap="square">
            <a:spAutoFit/>
          </a:bodyPr>
          <a:lstStyle/>
          <a:p>
            <a:pPr algn="l">
              <a:lnSpc>
                <a:spcPct val="120000"/>
              </a:lnSpc>
            </a:pPr>
            <a:r>
              <a:rPr sz="1250" b="0">
                <a:solidFill>
                  <a:srgbClr val="555555"/>
                </a:solidFill>
                <a:latin typeface="Calibri"/>
              </a:rPr>
              <a:t>Outputs SPDX 3.0.1 JSON-LD</a:t>
            </a:r>
          </a:p>
          <a:p>
            <a:pPr algn="l">
              <a:lnSpc>
                <a:spcPct val="120000"/>
              </a:lnSpc>
            </a:pPr>
            <a:r>
              <a:rPr sz="1250" b="0">
                <a:solidFill>
                  <a:srgbClr val="555555"/>
                </a:solidFill>
                <a:latin typeface="Calibri"/>
              </a:rPr>
              <a:t>rooted at prelink.o</a:t>
            </a:r>
          </a:p>
          <a:p>
            <a:pPr algn="l">
              <a:lnSpc>
                <a:spcPct val="120000"/>
              </a:lnSpc>
            </a:pPr>
            <a:r>
              <a:rPr sz="1250" b="0">
                <a:solidFill>
                  <a:srgbClr val="555555"/>
                </a:solidFill>
                <a:latin typeface="Calibri"/>
              </a:rPr>
              <a:t>(x86_64 / arm64)</a:t>
            </a:r>
          </a:p>
        </p:txBody>
      </p:sp>
      <p:sp>
        <p:nvSpPr>
          <p:cNvPr id="18" name="TextBox 17"/>
          <p:cNvSpPr txBox="1"/>
          <p:nvPr/>
        </p:nvSpPr>
        <p:spPr>
          <a:xfrm>
            <a:off x="548640" y="3108960"/>
            <a:ext cx="11064240" cy="914400"/>
          </a:xfrm>
          <a:prstGeom prst="rect">
            <a:avLst/>
          </a:prstGeom>
          <a:noFill/>
        </p:spPr>
        <p:txBody>
          <a:bodyPr wrap="square">
            <a:spAutoFit/>
          </a:bodyPr>
          <a:lstStyle/>
          <a:p>
            <a:pPr>
              <a:lnSpc>
                <a:spcPct val="115000"/>
              </a:lnSpc>
              <a:spcAft>
                <a:spcPts val="800"/>
              </a:spcAft>
            </a:pPr>
            <a:r>
              <a:rPr sz="1350" b="0">
                <a:solidFill>
                  <a:srgbClr val="1B2A4A"/>
                </a:solidFill>
                <a:latin typeface="Calibri"/>
              </a:rPr>
              <a:t>■  Why “runtime injection”? Instead of modifying any KernelSbom source file, parser definitions are added to the shared Python module (sys.modules) while it runs — so future upstream Linux updates can be adopted as-is</a:t>
            </a:r>
          </a:p>
          <a:p>
            <a:pPr>
              <a:lnSpc>
                <a:spcPct val="115000"/>
              </a:lnSpc>
              <a:spcAft>
                <a:spcPts val="800"/>
              </a:spcAft>
            </a:pPr>
            <a:r>
              <a:rPr sz="1350" b="0">
                <a:solidFill>
                  <a:srgbClr val="1B2A4A"/>
                </a:solidFill>
                <a:latin typeface="Calibri"/>
              </a:rPr>
              <a:t>■  Why filter to “files that actually exist”? Xen’s build has an idiom of writing a temporary file X.new and then mv-ing it to X. Taken literally, this would reference paths that don’t exist, so inputs are filtered to real files</a:t>
            </a:r>
          </a:p>
        </p:txBody>
      </p:sp>
      <p:sp>
        <p:nvSpPr>
          <p:cNvPr id="19" name="Rectangle 18"/>
          <p:cNvSpPr/>
          <p:nvPr/>
        </p:nvSpPr>
        <p:spPr>
          <a:xfrm>
            <a:off x="548640" y="4114800"/>
            <a:ext cx="11064240" cy="731520"/>
          </a:xfrm>
          <a:prstGeom prst="rect">
            <a:avLst/>
          </a:prstGeom>
          <a:solidFill>
            <a:srgbClr val="F4F6F9"/>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187952"/>
            <a:ext cx="10607040" cy="274320"/>
          </a:xfrm>
          <a:prstGeom prst="rect">
            <a:avLst/>
          </a:prstGeom>
          <a:noFill/>
        </p:spPr>
        <p:txBody>
          <a:bodyPr wrap="square">
            <a:spAutoFit/>
          </a:bodyPr>
          <a:lstStyle/>
          <a:p>
            <a:pPr algn="l"/>
            <a:r>
              <a:rPr sz="1250" b="1">
                <a:solidFill>
                  <a:srgbClr val="2E86AB"/>
                </a:solidFill>
                <a:latin typeface="Calibri"/>
              </a:rPr>
              <a:t>Premise behind ③ (shared with the Linux kernel, not Xen-specific)</a:t>
            </a:r>
          </a:p>
        </p:txBody>
      </p:sp>
      <p:sp>
        <p:nvSpPr>
          <p:cNvPr id="21" name="TextBox 20"/>
          <p:cNvSpPr txBox="1"/>
          <p:nvPr/>
        </p:nvSpPr>
        <p:spPr>
          <a:xfrm>
            <a:off x="777240" y="4462272"/>
            <a:ext cx="10607040" cy="365760"/>
          </a:xfrm>
          <a:prstGeom prst="rect">
            <a:avLst/>
          </a:prstGeom>
          <a:noFill/>
        </p:spPr>
        <p:txBody>
          <a:bodyPr wrap="square">
            <a:spAutoFit/>
          </a:bodyPr>
          <a:lstStyle/>
          <a:p>
            <a:pPr algn="l">
              <a:lnSpc>
                <a:spcPct val="115000"/>
              </a:lnSpc>
            </a:pPr>
            <a:r>
              <a:rPr sz="1100" b="0">
                <a:solidFill>
                  <a:srgbClr val="1B2A4A"/>
                </a:solidFill>
                <a:latin typeface="Calibri"/>
              </a:rPr>
              <a:t>The premise is that tracking build inclusion (at file granularity) is sufficient -- actual function-call relationships are never traced. This is inherent to KernelSbom's own design; it holds for Xen because the hypervisor is a single statically-linked binary and arch-specific code is already excluded at the source-file level by the build.</a:t>
            </a:r>
          </a:p>
        </p:txBody>
      </p:sp>
      <p:sp>
        <p:nvSpPr>
          <p:cNvPr id="22" name="TextBox 21"/>
          <p:cNvSpPr txBox="1"/>
          <p:nvPr/>
        </p:nvSpPr>
        <p:spPr>
          <a:xfrm>
            <a:off x="548640" y="4983480"/>
            <a:ext cx="11064240" cy="274320"/>
          </a:xfrm>
          <a:prstGeom prst="rect">
            <a:avLst/>
          </a:prstGeom>
          <a:noFill/>
        </p:spPr>
        <p:txBody>
          <a:bodyPr wrap="square">
            <a:spAutoFit/>
          </a:bodyPr>
          <a:lstStyle/>
          <a:p>
            <a:pPr algn="l"/>
            <a:r>
              <a:rPr sz="1250" b="1">
                <a:solidFill>
                  <a:srgbClr val="1B2A4A"/>
                </a:solidFill>
                <a:latin typeface="Calibri"/>
              </a:rPr>
              <a:t>Real code excerpt: scripts/xen-sbom-poc/xen_parsers.py (registering the XSM/FLASK parser)</a:t>
            </a:r>
          </a:p>
        </p:txBody>
      </p:sp>
      <p:sp>
        <p:nvSpPr>
          <p:cNvPr id="23" name="Rectangle 22"/>
          <p:cNvSpPr/>
          <p:nvPr/>
        </p:nvSpPr>
        <p:spPr>
          <a:xfrm>
            <a:off x="548640" y="5276088"/>
            <a:ext cx="11064240" cy="1399032"/>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49240"/>
            <a:ext cx="10789920" cy="1252728"/>
          </a:xfrm>
          <a:prstGeom prst="rect">
            <a:avLst/>
          </a:prstGeom>
          <a:noFill/>
        </p:spPr>
        <p:txBody>
          <a:bodyPr wrap="square">
            <a:spAutoFit/>
          </a:bodyPr>
          <a:lstStyle/>
          <a:p>
            <a:pPr>
              <a:lnSpc>
                <a:spcPct val="115000"/>
              </a:lnSpc>
            </a:pPr>
            <a:r>
              <a:rPr sz="1050">
                <a:solidFill>
                  <a:srgbClr val="C8C8C8"/>
                </a:solidFill>
                <a:latin typeface="Consolas"/>
              </a:rPr>
              <a:t>XEN_COMMAND_PARSERS = [</a:t>
            </a:r>
          </a:p>
          <a:p>
            <a:pPr>
              <a:lnSpc>
                <a:spcPct val="115000"/>
              </a:lnSpc>
            </a:pPr>
            <a:r>
              <a:rPr sz="1050">
                <a:solidFill>
                  <a:srgbClr val="E0B85C"/>
                </a:solidFill>
                <a:latin typeface="Consolas"/>
              </a:rPr>
              <a:t>    (re.compile(r".*xsm/flask/policy/mk(flask|access_vector)\.sh\b"),</a:t>
            </a:r>
          </a:p>
          <a:p>
            <a:pPr>
              <a:lnSpc>
                <a:spcPct val="115000"/>
              </a:lnSpc>
            </a:pPr>
            <a:r>
              <a:rPr sz="1050">
                <a:solidFill>
                  <a:srgbClr val="6AC77A"/>
                </a:solidFill>
                <a:latin typeface="Consolas"/>
              </a:rPr>
              <a:t>     _parse_flask_codegen),   # only appears with arm64_defconfig</a:t>
            </a:r>
          </a:p>
          <a:p>
            <a:pPr>
              <a:lnSpc>
                <a:spcPct val="115000"/>
              </a:lnSpc>
            </a:pPr>
            <a:r>
              <a:rPr sz="1050">
                <a:solidFill>
                  <a:srgbClr val="C8C8C8"/>
                </a:solidFill>
                <a:latin typeface="Consolas"/>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RESULTS — x86_64 / arm64</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Result 1: Complete SBOM for the Hypervisor Core</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4/10</a:t>
            </a:r>
          </a:p>
        </p:txBody>
      </p:sp>
      <p:sp>
        <p:nvSpPr>
          <p:cNvPr id="7" name="Rectangle 6"/>
          <p:cNvSpPr/>
          <p:nvPr/>
        </p:nvSpPr>
        <p:spPr>
          <a:xfrm>
            <a:off x="548640" y="1325880"/>
            <a:ext cx="5303520" cy="25146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30352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89888"/>
            <a:ext cx="4846320" cy="365760"/>
          </a:xfrm>
          <a:prstGeom prst="rect">
            <a:avLst/>
          </a:prstGeom>
          <a:noFill/>
        </p:spPr>
        <p:txBody>
          <a:bodyPr wrap="square">
            <a:spAutoFit/>
          </a:bodyPr>
          <a:lstStyle/>
          <a:p>
            <a:pPr algn="l"/>
            <a:r>
              <a:rPr sz="1500" b="1">
                <a:solidFill>
                  <a:srgbClr val="FFFFFF"/>
                </a:solidFill>
                <a:latin typeface="Calibri"/>
              </a:rPr>
              <a:t>x86_64_defconfig</a:t>
            </a:r>
          </a:p>
        </p:txBody>
      </p:sp>
      <p:sp>
        <p:nvSpPr>
          <p:cNvPr id="10" name="TextBox 9"/>
          <p:cNvSpPr txBox="1"/>
          <p:nvPr/>
        </p:nvSpPr>
        <p:spPr>
          <a:xfrm>
            <a:off x="822960" y="1874519"/>
            <a:ext cx="4754880" cy="1920240"/>
          </a:xfrm>
          <a:prstGeom prst="rect">
            <a:avLst/>
          </a:prstGeom>
          <a:noFill/>
        </p:spPr>
        <p:txBody>
          <a:bodyPr wrap="square">
            <a:spAutoFit/>
          </a:bodyPr>
          <a:lstStyle/>
          <a:p>
            <a:pPr>
              <a:lnSpc>
                <a:spcPct val="110000"/>
              </a:lnSpc>
              <a:spcAft>
                <a:spcPts val="600"/>
              </a:spcAft>
            </a:pPr>
            <a:r>
              <a:rPr sz="1300" b="0">
                <a:solidFill>
                  <a:srgbClr val="1B2A4A"/>
                </a:solidFill>
                <a:latin typeface="Calibri"/>
              </a:rPr>
              <a:t>■  Zero unknown commands, exit 0</a:t>
            </a:r>
          </a:p>
          <a:p>
            <a:pPr>
              <a:lnSpc>
                <a:spcPct val="110000"/>
              </a:lnSpc>
              <a:spcAft>
                <a:spcPts val="600"/>
              </a:spcAft>
            </a:pPr>
            <a:r>
              <a:rPr sz="1300" b="0">
                <a:solidFill>
                  <a:srgbClr val="1B2A4A"/>
                </a:solidFill>
                <a:latin typeface="Calibri"/>
              </a:rPr>
              <a:t>■  Verified with official SPDX tools (next page)</a:t>
            </a:r>
          </a:p>
          <a:p>
            <a:pPr>
              <a:lnSpc>
                <a:spcPct val="110000"/>
              </a:lnSpc>
              <a:spcAft>
                <a:spcPts val="600"/>
              </a:spcAft>
            </a:pPr>
            <a:r>
              <a:rPr sz="1300" b="0">
                <a:solidFill>
                  <a:srgbClr val="1B2A4A"/>
                </a:solidFill>
                <a:latin typeface="Calibri"/>
              </a:rPr>
              <a:t>■  sbom-build.spdx.json: 3,554 elements</a:t>
            </a:r>
          </a:p>
          <a:p>
            <a:pPr>
              <a:lnSpc>
                <a:spcPct val="110000"/>
              </a:lnSpc>
              <a:spcAft>
                <a:spcPts val="600"/>
              </a:spcAft>
            </a:pPr>
            <a:r>
              <a:rPr sz="1300" b="0">
                <a:solidFill>
                  <a:srgbClr val="1B2A4A"/>
                </a:solidFill>
                <a:latin typeface="Calibri"/>
              </a:rPr>
              <a:t>■  (1,518 software_File), ~3.2 MB</a:t>
            </a:r>
          </a:p>
          <a:p>
            <a:pPr>
              <a:lnSpc>
                <a:spcPct val="110000"/>
              </a:lnSpc>
              <a:spcAft>
                <a:spcPts val="600"/>
              </a:spcAft>
            </a:pPr>
            <a:r>
              <a:rPr sz="1300" b="0">
                <a:solidFill>
                  <a:srgbClr val="1B2A4A"/>
                </a:solidFill>
                <a:latin typeface="Calibri"/>
              </a:rPr>
              <a:t>■  sbom-output.spdx.json: 12 elements, 24 KB</a:t>
            </a:r>
          </a:p>
          <a:p>
            <a:pPr>
              <a:lnSpc>
                <a:spcPct val="110000"/>
              </a:lnSpc>
              <a:spcAft>
                <a:spcPts val="600"/>
              </a:spcAft>
            </a:pPr>
            <a:r>
              <a:rPr sz="1300" b="0">
                <a:solidFill>
                  <a:srgbClr val="1B2A4A"/>
                </a:solidFill>
                <a:latin typeface="Calibri"/>
              </a:rPr>
              <a:t>■  21 unit tests pass</a:t>
            </a:r>
          </a:p>
        </p:txBody>
      </p:sp>
      <p:sp>
        <p:nvSpPr>
          <p:cNvPr id="11" name="Rectangle 10"/>
          <p:cNvSpPr/>
          <p:nvPr/>
        </p:nvSpPr>
        <p:spPr>
          <a:xfrm>
            <a:off x="6217920" y="1325880"/>
            <a:ext cx="5303520" cy="25146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25880"/>
            <a:ext cx="530352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89888"/>
            <a:ext cx="4846320" cy="365760"/>
          </a:xfrm>
          <a:prstGeom prst="rect">
            <a:avLst/>
          </a:prstGeom>
          <a:noFill/>
        </p:spPr>
        <p:txBody>
          <a:bodyPr wrap="square">
            <a:spAutoFit/>
          </a:bodyPr>
          <a:lstStyle/>
          <a:p>
            <a:pPr algn="l"/>
            <a:r>
              <a:rPr sz="1500" b="1">
                <a:solidFill>
                  <a:srgbClr val="FFFFFF"/>
                </a:solidFill>
                <a:latin typeface="Calibri"/>
              </a:rPr>
              <a:t>arm64_defconfig (cross-build)</a:t>
            </a:r>
          </a:p>
        </p:txBody>
      </p:sp>
      <p:sp>
        <p:nvSpPr>
          <p:cNvPr id="14" name="TextBox 13"/>
          <p:cNvSpPr txBox="1"/>
          <p:nvPr/>
        </p:nvSpPr>
        <p:spPr>
          <a:xfrm>
            <a:off x="6492240" y="1874519"/>
            <a:ext cx="4754880" cy="1920240"/>
          </a:xfrm>
          <a:prstGeom prst="rect">
            <a:avLst/>
          </a:prstGeom>
          <a:noFill/>
        </p:spPr>
        <p:txBody>
          <a:bodyPr wrap="square">
            <a:spAutoFit/>
          </a:bodyPr>
          <a:lstStyle/>
          <a:p>
            <a:pPr>
              <a:lnSpc>
                <a:spcPct val="110000"/>
              </a:lnSpc>
              <a:spcAft>
                <a:spcPts val="600"/>
              </a:spcAft>
            </a:pPr>
            <a:r>
              <a:rPr sz="1300" b="0">
                <a:solidFill>
                  <a:srgbClr val="1B2A4A"/>
                </a:solidFill>
                <a:latin typeface="Calibri"/>
              </a:rPr>
              <a:t>■  Built with aarch64-linux-gnu-gcc</a:t>
            </a:r>
          </a:p>
          <a:p>
            <a:pPr>
              <a:lnSpc>
                <a:spcPct val="110000"/>
              </a:lnSpc>
              <a:spcAft>
                <a:spcPts val="600"/>
              </a:spcAft>
            </a:pPr>
            <a:r>
              <a:rPr sz="1300" b="0">
                <a:solidFill>
                  <a:srgbClr val="1B2A4A"/>
                </a:solidFill>
                <a:latin typeface="Calibri"/>
              </a:rPr>
              <a:t>■  Zero unknown commands, exit 0</a:t>
            </a:r>
          </a:p>
          <a:p>
            <a:pPr>
              <a:lnSpc>
                <a:spcPct val="110000"/>
              </a:lnSpc>
              <a:spcAft>
                <a:spcPts val="600"/>
              </a:spcAft>
            </a:pPr>
            <a:r>
              <a:rPr sz="1300" b="0">
                <a:solidFill>
                  <a:srgbClr val="1B2A4A"/>
                </a:solidFill>
                <a:latin typeface="Calibri"/>
              </a:rPr>
              <a:t>■  sbom-build.spdx.json: 1,961 elements</a:t>
            </a:r>
          </a:p>
          <a:p>
            <a:pPr>
              <a:lnSpc>
                <a:spcPct val="110000"/>
              </a:lnSpc>
              <a:spcAft>
                <a:spcPts val="600"/>
              </a:spcAft>
            </a:pPr>
            <a:r>
              <a:rPr sz="1300" b="0">
                <a:solidFill>
                  <a:srgbClr val="1B2A4A"/>
                </a:solidFill>
                <a:latin typeface="Calibri"/>
              </a:rPr>
              <a:t>■  (897 software_File), ~1.5 MB</a:t>
            </a:r>
          </a:p>
          <a:p>
            <a:pPr>
              <a:lnSpc>
                <a:spcPct val="110000"/>
              </a:lnSpc>
              <a:spcAft>
                <a:spcPts val="600"/>
              </a:spcAft>
            </a:pPr>
            <a:r>
              <a:rPr sz="1300" b="0">
                <a:solidFill>
                  <a:srgbClr val="1B2A4A"/>
                </a:solidFill>
                <a:latin typeface="Calibri"/>
              </a:rPr>
              <a:t>■  sbom-output.spdx.json: 12 elements, 24 KB</a:t>
            </a:r>
          </a:p>
        </p:txBody>
      </p:sp>
      <p:sp>
        <p:nvSpPr>
          <p:cNvPr id="15" name="Rectangle 14"/>
          <p:cNvSpPr/>
          <p:nvPr/>
        </p:nvSpPr>
        <p:spPr>
          <a:xfrm>
            <a:off x="548640" y="3977639"/>
            <a:ext cx="11064240" cy="868680"/>
          </a:xfrm>
          <a:prstGeom prst="rect">
            <a:avLst/>
          </a:prstGeom>
          <a:solidFill>
            <a:srgbClr val="FFF3E0"/>
          </a:solidFill>
          <a:ln w="1587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41648"/>
            <a:ext cx="10607040" cy="749808"/>
          </a:xfrm>
          <a:prstGeom prst="rect">
            <a:avLst/>
          </a:prstGeom>
          <a:noFill/>
        </p:spPr>
        <p:txBody>
          <a:bodyPr wrap="square">
            <a:spAutoFit/>
          </a:bodyPr>
          <a:lstStyle/>
          <a:p>
            <a:pPr algn="l">
              <a:lnSpc>
                <a:spcPct val="120000"/>
              </a:lnSpc>
            </a:pPr>
            <a:r>
              <a:rPr sz="1200" b="0">
                <a:solidFill>
                  <a:srgbClr val="7A4A00"/>
                </a:solidFill>
                <a:latin typeface="Calibri"/>
              </a:rPr>
              <a:t>Note (a config-dependent issue): arm64_defconfig enables CONFIG_XSM_FLASK, so one parser for the XSM/FLASK policy code generators (mkflask.sh / mkaccess_vector.sh) was initially missing (x86_64_defconfig disables this option, so it wasn’t an issue there). After adding it, zero unknown commands was reached as above (code excerpt on the next page).</a:t>
            </a:r>
          </a:p>
        </p:txBody>
      </p:sp>
      <p:sp>
        <p:nvSpPr>
          <p:cNvPr id="17" name="Rectangle 16"/>
          <p:cNvSpPr/>
          <p:nvPr/>
        </p:nvSpPr>
        <p:spPr>
          <a:xfrm>
            <a:off x="548640" y="4983480"/>
            <a:ext cx="11064240" cy="1417320"/>
          </a:xfrm>
          <a:prstGeom prst="rect">
            <a:avLst/>
          </a:prstGeom>
          <a:solidFill>
            <a:srgbClr val="F4F6F9"/>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74920"/>
            <a:ext cx="10698480" cy="292608"/>
          </a:xfrm>
          <a:prstGeom prst="rect">
            <a:avLst/>
          </a:prstGeom>
          <a:noFill/>
        </p:spPr>
        <p:txBody>
          <a:bodyPr wrap="square">
            <a:spAutoFit/>
          </a:bodyPr>
          <a:lstStyle/>
          <a:p>
            <a:pPr algn="l"/>
            <a:r>
              <a:rPr sz="1350" b="1">
                <a:solidFill>
                  <a:srgbClr val="2E86AB"/>
                </a:solidFill>
                <a:latin typeface="Calibri"/>
              </a:rPr>
              <a:t>Term: what is an “unknown command”?</a:t>
            </a:r>
          </a:p>
        </p:txBody>
      </p:sp>
      <p:sp>
        <p:nvSpPr>
          <p:cNvPr id="19" name="TextBox 18"/>
          <p:cNvSpPr txBox="1"/>
          <p:nvPr/>
        </p:nvSpPr>
        <p:spPr>
          <a:xfrm>
            <a:off x="731520" y="5385816"/>
            <a:ext cx="10698480" cy="685800"/>
          </a:xfrm>
          <a:prstGeom prst="rect">
            <a:avLst/>
          </a:prstGeom>
          <a:noFill/>
        </p:spPr>
        <p:txBody>
          <a:bodyPr wrap="square">
            <a:spAutoFit/>
          </a:bodyPr>
          <a:lstStyle/>
          <a:p>
            <a:pPr algn="l">
              <a:lnSpc>
                <a:spcPct val="120000"/>
              </a:lnSpc>
            </a:pPr>
            <a:r>
              <a:rPr sz="1150" b="0">
                <a:solidFill>
                  <a:srgbClr val="1B2A4A"/>
                </a:solidFill>
                <a:latin typeface="Calibri"/>
              </a:rPr>
              <a:t>A build command that matches none of the registered parsers (patterns for gcc/ld/cp, etc.). When it doesn’t match, the input files that command processed can’t be reflected in the SBOM, and the dependency graph breaks off at that point (it is skipped and logged as a warning). The goal is to reach zero of these — the “0 unknown commands” in the cards above refers to this.</a:t>
            </a:r>
          </a:p>
        </p:txBody>
      </p:sp>
      <p:sp>
        <p:nvSpPr>
          <p:cNvPr id="20" name="TextBox 19"/>
          <p:cNvSpPr txBox="1"/>
          <p:nvPr/>
        </p:nvSpPr>
        <p:spPr>
          <a:xfrm>
            <a:off x="731520" y="6089904"/>
            <a:ext cx="10698480" cy="274320"/>
          </a:xfrm>
          <a:prstGeom prst="rect">
            <a:avLst/>
          </a:prstGeom>
          <a:noFill/>
        </p:spPr>
        <p:txBody>
          <a:bodyPr wrap="square">
            <a:spAutoFit/>
          </a:bodyPr>
          <a:lstStyle/>
          <a:p>
            <a:pPr algn="l"/>
            <a:r>
              <a:rPr sz="1000" b="0">
                <a:solidFill>
                  <a:srgbClr val="555555"/>
                </a:solidFill>
                <a:latin typeface="Calibri"/>
              </a:rPr>
              <a:t>Source: Each run log analysis/*/*.run.log; an example of the actual warning text is on the next page</a:t>
            </a:r>
          </a:p>
        </p:txBody>
      </p:sp>
      <p:sp>
        <p:nvSpPr>
          <p:cNvPr id="21" name="TextBox 20"/>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EVIDENCE</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Result 1: Actual Logs and Validation Results (Evidence)</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5/10</a:t>
            </a:r>
          </a:p>
        </p:txBody>
      </p:sp>
      <p:sp>
        <p:nvSpPr>
          <p:cNvPr id="7" name="TextBox 6"/>
          <p:cNvSpPr txBox="1"/>
          <p:nvPr/>
        </p:nvSpPr>
        <p:spPr>
          <a:xfrm>
            <a:off x="548640" y="1280160"/>
            <a:ext cx="11064240" cy="274320"/>
          </a:xfrm>
          <a:prstGeom prst="rect">
            <a:avLst/>
          </a:prstGeom>
          <a:noFill/>
        </p:spPr>
        <p:txBody>
          <a:bodyPr wrap="square">
            <a:spAutoFit/>
          </a:bodyPr>
          <a:lstStyle/>
          <a:p>
            <a:pPr algn="l"/>
            <a:r>
              <a:rPr sz="1250" b="1">
                <a:solidFill>
                  <a:srgbClr val="1B2A4A"/>
                </a:solidFill>
                <a:latin typeface="Calibri"/>
              </a:rPr>
              <a:t>Before: an actual “unknown command” warning from the baseline PoC (before the extension)</a:t>
            </a:r>
          </a:p>
        </p:txBody>
      </p:sp>
      <p:sp>
        <p:nvSpPr>
          <p:cNvPr id="8" name="Rectangle 7"/>
          <p:cNvSpPr/>
          <p:nvPr/>
        </p:nvSpPr>
        <p:spPr>
          <a:xfrm>
            <a:off x="548640" y="1572768"/>
            <a:ext cx="11064240" cy="100584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45920"/>
            <a:ext cx="10789920" cy="859536"/>
          </a:xfrm>
          <a:prstGeom prst="rect">
            <a:avLst/>
          </a:prstGeom>
          <a:noFill/>
        </p:spPr>
        <p:txBody>
          <a:bodyPr wrap="square">
            <a:spAutoFit/>
          </a:bodyPr>
          <a:lstStyle/>
          <a:p>
            <a:pPr>
              <a:lnSpc>
                <a:spcPct val="115000"/>
              </a:lnSpc>
            </a:pPr>
            <a:r>
              <a:rPr sz="1050">
                <a:solidFill>
                  <a:srgbClr val="E0B85C"/>
                </a:solidFill>
                <a:latin typeface="Consolas"/>
              </a:rPr>
              <a:t>[WARNING] Skipped parsing command /bin/sh ./xsm/flask/policy/mkflask.sh awk ...</a:t>
            </a:r>
          </a:p>
          <a:p>
            <a:pPr>
              <a:lnSpc>
                <a:spcPct val="115000"/>
              </a:lnSpc>
            </a:pPr>
            <a:r>
              <a:rPr sz="1050">
                <a:solidFill>
                  <a:srgbClr val="E0B85C"/>
                </a:solidFill>
                <a:latin typeface="Consolas"/>
              </a:rPr>
              <a:t>          because no matching parser was found</a:t>
            </a:r>
          </a:p>
          <a:p>
            <a:pPr>
              <a:lnSpc>
                <a:spcPct val="115000"/>
              </a:lnSpc>
            </a:pPr>
            <a:r>
              <a:rPr sz="1050">
                <a:solidFill>
                  <a:srgbClr val="E0B85C"/>
                </a:solidFill>
                <a:latin typeface="Consolas"/>
              </a:rPr>
              <a:t>[WARNING] Skipped parsing command mv -f include/compat/xen.h.new include/compat/xen.h</a:t>
            </a:r>
          </a:p>
          <a:p>
            <a:pPr>
              <a:lnSpc>
                <a:spcPct val="115000"/>
              </a:lnSpc>
            </a:pPr>
            <a:r>
              <a:rPr sz="1050">
                <a:solidFill>
                  <a:srgbClr val="E0B85C"/>
                </a:solidFill>
                <a:latin typeface="Consolas"/>
              </a:rPr>
              <a:t>          because no matching parser was found</a:t>
            </a:r>
          </a:p>
        </p:txBody>
      </p:sp>
      <p:sp>
        <p:nvSpPr>
          <p:cNvPr id="10" name="TextBox 9"/>
          <p:cNvSpPr txBox="1"/>
          <p:nvPr/>
        </p:nvSpPr>
        <p:spPr>
          <a:xfrm>
            <a:off x="548640" y="2596896"/>
            <a:ext cx="11064240" cy="237744"/>
          </a:xfrm>
          <a:prstGeom prst="rect">
            <a:avLst/>
          </a:prstGeom>
          <a:noFill/>
        </p:spPr>
        <p:txBody>
          <a:bodyPr wrap="square">
            <a:spAutoFit/>
          </a:bodyPr>
          <a:lstStyle/>
          <a:p>
            <a:pPr algn="l"/>
            <a:r>
              <a:rPr sz="900" b="0">
                <a:solidFill>
                  <a:srgbClr val="555555"/>
                </a:solidFill>
                <a:latin typeface="Calibri"/>
              </a:rPr>
              <a:t>Source: analysis/xen-poc/xen-poc.run.log</a:t>
            </a:r>
          </a:p>
        </p:txBody>
      </p:sp>
      <p:sp>
        <p:nvSpPr>
          <p:cNvPr id="11" name="TextBox 10"/>
          <p:cNvSpPr txBox="1"/>
          <p:nvPr/>
        </p:nvSpPr>
        <p:spPr>
          <a:xfrm>
            <a:off x="548640" y="3063240"/>
            <a:ext cx="11064240" cy="274320"/>
          </a:xfrm>
          <a:prstGeom prst="rect">
            <a:avLst/>
          </a:prstGeom>
          <a:noFill/>
        </p:spPr>
        <p:txBody>
          <a:bodyPr wrap="square">
            <a:spAutoFit/>
          </a:bodyPr>
          <a:lstStyle/>
          <a:p>
            <a:pPr algn="l"/>
            <a:r>
              <a:rPr sz="1250" b="1">
                <a:solidFill>
                  <a:srgbClr val="1B2A4A"/>
                </a:solidFill>
                <a:latin typeface="Calibri"/>
              </a:rPr>
              <a:t>After: the complete run's log, with the Xen extension applied, has zero such warnings</a:t>
            </a:r>
          </a:p>
        </p:txBody>
      </p:sp>
      <p:sp>
        <p:nvSpPr>
          <p:cNvPr id="12" name="Rectangle 11"/>
          <p:cNvSpPr/>
          <p:nvPr/>
        </p:nvSpPr>
        <p:spPr>
          <a:xfrm>
            <a:off x="548640" y="3355848"/>
            <a:ext cx="11064240" cy="365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29000"/>
            <a:ext cx="10789920" cy="219456"/>
          </a:xfrm>
          <a:prstGeom prst="rect">
            <a:avLst/>
          </a:prstGeom>
          <a:noFill/>
        </p:spPr>
        <p:txBody>
          <a:bodyPr wrap="square">
            <a:spAutoFit/>
          </a:bodyPr>
          <a:lstStyle/>
          <a:p>
            <a:pPr>
              <a:lnSpc>
                <a:spcPct val="115000"/>
              </a:lnSpc>
            </a:pPr>
            <a:r>
              <a:rPr sz="1050">
                <a:solidFill>
                  <a:srgbClr val="C8C8C8"/>
                </a:solidFill>
                <a:latin typeface="Consolas"/>
              </a:rPr>
              <a:t>$ grep -c 'no matching parser was found' analysis/xen-full/xen-full.run.log</a:t>
            </a:r>
          </a:p>
          <a:p>
            <a:pPr>
              <a:lnSpc>
                <a:spcPct val="115000"/>
              </a:lnSpc>
            </a:pPr>
            <a:r>
              <a:rPr sz="1050">
                <a:solidFill>
                  <a:srgbClr val="6AC77A"/>
                </a:solidFill>
                <a:latin typeface="Consolas"/>
              </a:rPr>
              <a:t>0</a:t>
            </a:r>
          </a:p>
        </p:txBody>
      </p:sp>
      <p:sp>
        <p:nvSpPr>
          <p:cNvPr id="14" name="TextBox 13"/>
          <p:cNvSpPr txBox="1"/>
          <p:nvPr/>
        </p:nvSpPr>
        <p:spPr>
          <a:xfrm>
            <a:off x="548640" y="3739896"/>
            <a:ext cx="11064240" cy="237744"/>
          </a:xfrm>
          <a:prstGeom prst="rect">
            <a:avLst/>
          </a:prstGeom>
          <a:noFill/>
        </p:spPr>
        <p:txBody>
          <a:bodyPr wrap="square">
            <a:spAutoFit/>
          </a:bodyPr>
          <a:lstStyle/>
          <a:p>
            <a:pPr algn="l"/>
            <a:r>
              <a:rPr sz="900" b="0">
                <a:solidFill>
                  <a:srgbClr val="555555"/>
                </a:solidFill>
                <a:latin typeface="Calibri"/>
              </a:rPr>
              <a:t>Source: analysis/xen-full/xen-full.run.log</a:t>
            </a:r>
          </a:p>
        </p:txBody>
      </p:sp>
      <p:sp>
        <p:nvSpPr>
          <p:cNvPr id="15" name="TextBox 14"/>
          <p:cNvSpPr txBox="1"/>
          <p:nvPr/>
        </p:nvSpPr>
        <p:spPr>
          <a:xfrm>
            <a:off x="548640" y="4206240"/>
            <a:ext cx="11064240" cy="274320"/>
          </a:xfrm>
          <a:prstGeom prst="rect">
            <a:avLst/>
          </a:prstGeom>
          <a:noFill/>
        </p:spPr>
        <p:txBody>
          <a:bodyPr wrap="square">
            <a:spAutoFit/>
          </a:bodyPr>
          <a:lstStyle/>
          <a:p>
            <a:pPr algn="l"/>
            <a:r>
              <a:rPr sz="1250" b="1">
                <a:solidFill>
                  <a:srgbClr val="1B2A4A"/>
                </a:solidFill>
                <a:latin typeface="Calibri"/>
              </a:rPr>
              <a:t>Actual output from the validation tool (pyshacl)</a:t>
            </a:r>
          </a:p>
        </p:txBody>
      </p:sp>
      <p:sp>
        <p:nvSpPr>
          <p:cNvPr id="16" name="Rectangle 15"/>
          <p:cNvSpPr/>
          <p:nvPr/>
        </p:nvSpPr>
        <p:spPr>
          <a:xfrm>
            <a:off x="548640" y="4498848"/>
            <a:ext cx="11064240" cy="6858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72000"/>
            <a:ext cx="10789920" cy="539496"/>
          </a:xfrm>
          <a:prstGeom prst="rect">
            <a:avLst/>
          </a:prstGeom>
          <a:noFill/>
        </p:spPr>
        <p:txBody>
          <a:bodyPr wrap="square">
            <a:spAutoFit/>
          </a:bodyPr>
          <a:lstStyle/>
          <a:p>
            <a:pPr>
              <a:lnSpc>
                <a:spcPct val="115000"/>
              </a:lnSpc>
            </a:pPr>
            <a:r>
              <a:rPr sz="1050">
                <a:solidFill>
                  <a:srgbClr val="C8C8C8"/>
                </a:solidFill>
                <a:latin typeface="Consolas"/>
              </a:rPr>
              <a:t>== Semantic validation (SHACL) ==</a:t>
            </a:r>
          </a:p>
          <a:p>
            <a:pPr>
              <a:lnSpc>
                <a:spcPct val="115000"/>
              </a:lnSpc>
            </a:pPr>
            <a:r>
              <a:rPr sz="1050">
                <a:solidFill>
                  <a:srgbClr val="C8C8C8"/>
                </a:solidFill>
                <a:latin typeface="Consolas"/>
              </a:rPr>
              <a:t>-- merged graph of: sbom-build.spdx.json sbom-output.spdx.json --</a:t>
            </a:r>
          </a:p>
          <a:p>
            <a:pPr>
              <a:lnSpc>
                <a:spcPct val="115000"/>
              </a:lnSpc>
            </a:pPr>
            <a:r>
              <a:rPr sz="1050">
                <a:solidFill>
                  <a:srgbClr val="C8C8C8"/>
                </a:solidFill>
                <a:latin typeface="Consolas"/>
              </a:rPr>
              <a:t>Validation Report</a:t>
            </a:r>
          </a:p>
          <a:p>
            <a:pPr>
              <a:lnSpc>
                <a:spcPct val="115000"/>
              </a:lnSpc>
            </a:pPr>
            <a:r>
              <a:rPr sz="1050">
                <a:solidFill>
                  <a:srgbClr val="6AC77A"/>
                </a:solidFill>
                <a:latin typeface="Consolas"/>
              </a:rPr>
              <a:t>Conforms: True</a:t>
            </a:r>
          </a:p>
        </p:txBody>
      </p:sp>
      <p:sp>
        <p:nvSpPr>
          <p:cNvPr id="18" name="TextBox 17"/>
          <p:cNvSpPr txBox="1"/>
          <p:nvPr/>
        </p:nvSpPr>
        <p:spPr>
          <a:xfrm>
            <a:off x="548640" y="5202936"/>
            <a:ext cx="11064240" cy="237744"/>
          </a:xfrm>
          <a:prstGeom prst="rect">
            <a:avLst/>
          </a:prstGeom>
          <a:noFill/>
        </p:spPr>
        <p:txBody>
          <a:bodyPr wrap="square">
            <a:spAutoFit/>
          </a:bodyPr>
          <a:lstStyle/>
          <a:p>
            <a:pPr algn="l"/>
            <a:r>
              <a:rPr sz="900" b="0">
                <a:solidFill>
                  <a:srgbClr val="555555"/>
                </a:solidFill>
                <a:latin typeface="Calibri"/>
              </a:rPr>
              <a:t>Source: analysis/validate-spdx-20260806.log</a:t>
            </a:r>
          </a:p>
        </p:txBody>
      </p:sp>
      <p:sp>
        <p:nvSpPr>
          <p:cNvPr id="19" name="TextBox 18"/>
          <p:cNvSpPr txBox="1"/>
          <p:nvPr/>
        </p:nvSpPr>
        <p:spPr>
          <a:xfrm>
            <a:off x="548640" y="5623560"/>
            <a:ext cx="11064240" cy="777240"/>
          </a:xfrm>
          <a:prstGeom prst="rect">
            <a:avLst/>
          </a:prstGeom>
          <a:noFill/>
        </p:spPr>
        <p:txBody>
          <a:bodyPr wrap="square">
            <a:spAutoFit/>
          </a:bodyPr>
          <a:lstStyle/>
          <a:p>
            <a:pPr algn="l">
              <a:lnSpc>
                <a:spcPct val="120000"/>
              </a:lnSpc>
            </a:pPr>
            <a:r>
              <a:rPr sz="1200" b="0">
                <a:solidFill>
                  <a:srgbClr val="555555"/>
                </a:solidFill>
                <a:latin typeface="Calibri"/>
              </a:rPr>
              <a:t>Note: a SPDX 3.0.1 visualization tool (e.g. spdx3_viewer) has not been used in this project yet. Evaluating and adopting one is a candidate next step if useful.</a:t>
            </a:r>
          </a:p>
        </p:txBody>
      </p:sp>
      <p:sp>
        <p:nvSpPr>
          <p:cNvPr id="20" name="TextBox 19"/>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RESULTS — Traceability</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Result 2: SBOM Traceability Query Tool (newly built)</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6/10</a:t>
            </a:r>
          </a:p>
        </p:txBody>
      </p:sp>
      <p:sp>
        <p:nvSpPr>
          <p:cNvPr id="7" name="Rectangle 6"/>
          <p:cNvSpPr/>
          <p:nvPr/>
        </p:nvSpPr>
        <p:spPr>
          <a:xfrm>
            <a:off x="548640" y="1280160"/>
            <a:ext cx="11064240" cy="685800"/>
          </a:xfrm>
          <a:prstGeom prst="rect">
            <a:avLst/>
          </a:prstGeom>
          <a:solidFill>
            <a:srgbClr val="FFF3E0"/>
          </a:solidFill>
          <a:ln w="1587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344168"/>
            <a:ext cx="10607040" cy="566928"/>
          </a:xfrm>
          <a:prstGeom prst="rect">
            <a:avLst/>
          </a:prstGeom>
          <a:noFill/>
        </p:spPr>
        <p:txBody>
          <a:bodyPr wrap="square">
            <a:spAutoFit/>
          </a:bodyPr>
          <a:lstStyle/>
          <a:p>
            <a:pPr algn="l">
              <a:lnSpc>
                <a:spcPct val="120000"/>
              </a:lnSpc>
            </a:pPr>
            <a:r>
              <a:rPr sz="1300" b="1">
                <a:solidFill>
                  <a:srgbClr val="7A4A00"/>
                </a:solidFill>
                <a:latin typeface="Calibri"/>
              </a:rPr>
              <a:t>This is not a feature of KernelSbom (upstream); it is a tool newly built by this project (query_traceability.py). It only reads the already-generated SPDX JSON-LD and never modifies the SBOM.</a:t>
            </a:r>
          </a:p>
        </p:txBody>
      </p:sp>
      <p:sp>
        <p:nvSpPr>
          <p:cNvPr id="9" name="Rectangle 8"/>
          <p:cNvSpPr/>
          <p:nvPr/>
        </p:nvSpPr>
        <p:spPr>
          <a:xfrm>
            <a:off x="548640" y="2103120"/>
            <a:ext cx="1920240"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1920240" cy="1234440"/>
          </a:xfrm>
          <a:prstGeom prst="rect">
            <a:avLst/>
          </a:prstGeom>
          <a:noFill/>
        </p:spPr>
        <p:txBody>
          <a:bodyPr wrap="square" anchor="ctr">
            <a:spAutoFit/>
          </a:bodyPr>
          <a:lstStyle/>
          <a:p>
            <a:pPr algn="ctr"/>
            <a:r>
              <a:rPr sz="1300" b="1">
                <a:solidFill>
                  <a:srgbClr val="FFFFFF"/>
                </a:solidFill>
                <a:latin typeface="Calibri"/>
              </a:rPr>
              <a:t>Necessity</a:t>
            </a:r>
          </a:p>
        </p:txBody>
      </p:sp>
      <p:sp>
        <p:nvSpPr>
          <p:cNvPr id="11" name="TextBox 10"/>
          <p:cNvSpPr txBox="1"/>
          <p:nvPr/>
        </p:nvSpPr>
        <p:spPr>
          <a:xfrm>
            <a:off x="2606040" y="2103120"/>
            <a:ext cx="9006840" cy="1234440"/>
          </a:xfrm>
          <a:prstGeom prst="rect">
            <a:avLst/>
          </a:prstGeom>
          <a:noFill/>
        </p:spPr>
        <p:txBody>
          <a:bodyPr wrap="square" anchor="ctr">
            <a:spAutoFit/>
          </a:bodyPr>
          <a:lstStyle/>
          <a:p>
            <a:pPr algn="l">
              <a:lnSpc>
                <a:spcPct val="120000"/>
              </a:lnSpc>
            </a:pPr>
            <a:r>
              <a:rPr sz="1400" b="0">
                <a:solidFill>
                  <a:srgbClr val="1B2A4A"/>
                </a:solidFill>
                <a:latin typeface="Calibri"/>
              </a:rPr>
              <a:t>Generating the SBOM alone didn’t answer the question of change-impact analysis: “if I change this source file, which artifacts/packages are affected?” This could plausibly also improve precision when cross-referencing vulnerability information (VEX) in the future (neither has been investigated in this project yet).</a:t>
            </a:r>
          </a:p>
        </p:txBody>
      </p:sp>
      <p:sp>
        <p:nvSpPr>
          <p:cNvPr id="12" name="Rectangle 11"/>
          <p:cNvSpPr/>
          <p:nvPr/>
        </p:nvSpPr>
        <p:spPr>
          <a:xfrm>
            <a:off x="548640" y="3474720"/>
            <a:ext cx="1920240" cy="1051560"/>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474720"/>
            <a:ext cx="1920240" cy="1051560"/>
          </a:xfrm>
          <a:prstGeom prst="rect">
            <a:avLst/>
          </a:prstGeom>
          <a:noFill/>
        </p:spPr>
        <p:txBody>
          <a:bodyPr wrap="square" anchor="ctr">
            <a:spAutoFit/>
          </a:bodyPr>
          <a:lstStyle/>
          <a:p>
            <a:pPr algn="ctr"/>
            <a:r>
              <a:rPr sz="1300" b="1">
                <a:solidFill>
                  <a:srgbClr val="FFFFFF"/>
                </a:solidFill>
                <a:latin typeface="Calibri"/>
              </a:rPr>
              <a:t>Importance</a:t>
            </a:r>
          </a:p>
        </p:txBody>
      </p:sp>
      <p:sp>
        <p:nvSpPr>
          <p:cNvPr id="14" name="TextBox 13"/>
          <p:cNvSpPr txBox="1"/>
          <p:nvPr/>
        </p:nvSpPr>
        <p:spPr>
          <a:xfrm>
            <a:off x="2606040" y="3474720"/>
            <a:ext cx="9006840" cy="1051560"/>
          </a:xfrm>
          <a:prstGeom prst="rect">
            <a:avLst/>
          </a:prstGeom>
          <a:noFill/>
        </p:spPr>
        <p:txBody>
          <a:bodyPr wrap="square" anchor="ctr">
            <a:spAutoFit/>
          </a:bodyPr>
          <a:lstStyle/>
          <a:p>
            <a:pPr algn="l">
              <a:lnSpc>
                <a:spcPct val="120000"/>
              </a:lnSpc>
            </a:pPr>
            <a:r>
              <a:rPr sz="1400" b="0">
                <a:solidFill>
                  <a:srgbClr val="1B2A4A"/>
                </a:solidFill>
                <a:latin typeface="Calibri"/>
              </a:rPr>
              <a:t>Missing an impact (a false negative) is a direct safety risk. The tool is therefore designed to clearly distinguish “no impact” from “outside the SBOM’s coverage,” never an ambiguous result.</a:t>
            </a:r>
          </a:p>
        </p:txBody>
      </p:sp>
      <p:sp>
        <p:nvSpPr>
          <p:cNvPr id="15" name="Rectangle 14"/>
          <p:cNvSpPr/>
          <p:nvPr/>
        </p:nvSpPr>
        <p:spPr>
          <a:xfrm>
            <a:off x="548640" y="4663440"/>
            <a:ext cx="1920240"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663440"/>
            <a:ext cx="1920240" cy="1051560"/>
          </a:xfrm>
          <a:prstGeom prst="rect">
            <a:avLst/>
          </a:prstGeom>
          <a:noFill/>
        </p:spPr>
        <p:txBody>
          <a:bodyPr wrap="square" anchor="ctr">
            <a:spAutoFit/>
          </a:bodyPr>
          <a:lstStyle/>
          <a:p>
            <a:pPr algn="ctr"/>
            <a:r>
              <a:rPr sz="1300" b="1">
                <a:solidFill>
                  <a:srgbClr val="FFFFFF"/>
                </a:solidFill>
                <a:latin typeface="Calibri"/>
              </a:rPr>
              <a:t>Effect (demonstrated)</a:t>
            </a:r>
          </a:p>
        </p:txBody>
      </p:sp>
      <p:sp>
        <p:nvSpPr>
          <p:cNvPr id="17" name="TextBox 16"/>
          <p:cNvSpPr txBox="1"/>
          <p:nvPr/>
        </p:nvSpPr>
        <p:spPr>
          <a:xfrm>
            <a:off x="2606040" y="4663440"/>
            <a:ext cx="9006840" cy="1051560"/>
          </a:xfrm>
          <a:prstGeom prst="rect">
            <a:avLst/>
          </a:prstGeom>
          <a:noFill/>
        </p:spPr>
        <p:txBody>
          <a:bodyPr wrap="square" anchor="ctr">
            <a:spAutoFit/>
          </a:bodyPr>
          <a:lstStyle/>
          <a:p>
            <a:pPr algn="l">
              <a:lnSpc>
                <a:spcPct val="120000"/>
              </a:lnSpc>
            </a:pPr>
            <a:r>
              <a:rPr sz="1400" b="0">
                <a:solidFill>
                  <a:srgbClr val="1B2A4A"/>
                </a:solidFill>
                <a:latin typeface="Calibri"/>
              </a:rPr>
              <a:t>Supports querying both directions — source→artifact (downstream) and artifact→source (upstream). Verified against the real arm64 SBOM (897 files); all 11 unit tests pass.</a:t>
            </a:r>
          </a:p>
        </p:txBody>
      </p:sp>
      <p:sp>
        <p:nvSpPr>
          <p:cNvPr id="18" name="TextBox 17"/>
          <p:cNvSpPr txBox="1"/>
          <p:nvPr/>
        </p:nvSpPr>
        <p:spPr>
          <a:xfrm>
            <a:off x="548640" y="5806440"/>
            <a:ext cx="11064240" cy="457200"/>
          </a:xfrm>
          <a:prstGeom prst="rect">
            <a:avLst/>
          </a:prstGeom>
          <a:noFill/>
        </p:spPr>
        <p:txBody>
          <a:bodyPr wrap="square">
            <a:spAutoFit/>
          </a:bodyPr>
          <a:lstStyle/>
          <a:p>
            <a:pPr algn="l"/>
            <a:r>
              <a:rPr sz="1400" b="1">
                <a:solidFill>
                  <a:srgbClr val="2E86AB"/>
                </a:solidFill>
                <a:latin typeface="Calibri"/>
              </a:rPr>
              <a:t>Answers, at an operational level, “what in the SBOM is affected if I change this .c file?”</a:t>
            </a:r>
          </a:p>
        </p:txBody>
      </p:sp>
      <p:sp>
        <p:nvSpPr>
          <p:cNvPr id="19" name="TextBox 18"/>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STATUS</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Completed / Outstanding</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7/10</a:t>
            </a:r>
          </a:p>
        </p:txBody>
      </p:sp>
      <p:graphicFrame>
        <p:nvGraphicFramePr>
          <p:cNvPr id="7" name="Table 6"/>
          <p:cNvGraphicFramePr>
            <a:graphicFrameLocks noGrp="1"/>
          </p:cNvGraphicFramePr>
          <p:nvPr/>
        </p:nvGraphicFramePr>
        <p:xfrm>
          <a:off x="548640" y="1371600"/>
          <a:ext cx="11064240" cy="2834640"/>
        </p:xfrm>
        <a:graphic>
          <a:graphicData uri="http://schemas.openxmlformats.org/drawingml/2006/table">
            <a:tbl>
              <a:tblPr firstRow="1" bandRow="1">
                <a:tableStyleId>{5C22544A-7EE6-4342-B048-85BDC9FD1C3A}</a:tableStyleId>
              </a:tblPr>
              <a:tblGrid>
                <a:gridCol w="1463040"/>
                <a:gridCol w="7772400"/>
                <a:gridCol w="1828800"/>
              </a:tblGrid>
              <a:tr h="404948">
                <a:tc>
                  <a:txBody>
                    <a:bodyPr/>
                    <a:lstStyle/>
                    <a:p>
                      <a:r>
                        <a:rPr b="1" sz="1400">
                          <a:solidFill>
                            <a:srgbClr val="FFFFFF"/>
                          </a:solidFill>
                        </a:rPr>
                        <a:t>ID</a:t>
                      </a:r>
                    </a:p>
                  </a:txBody>
                  <a:tcPr>
                    <a:solidFill>
                      <a:srgbClr val="1B2A4A"/>
                    </a:solidFill>
                  </a:tcPr>
                </a:tc>
                <a:tc>
                  <a:txBody>
                    <a:bodyPr/>
                    <a:lstStyle/>
                    <a:p>
                      <a:r>
                        <a:rPr b="1" sz="1400">
                          <a:solidFill>
                            <a:srgbClr val="FFFFFF"/>
                          </a:solidFill>
                        </a:rPr>
                        <a:t>Description</a:t>
                      </a:r>
                    </a:p>
                  </a:txBody>
                  <a:tcPr>
                    <a:solidFill>
                      <a:srgbClr val="1B2A4A"/>
                    </a:solidFill>
                  </a:tcPr>
                </a:tc>
                <a:tc>
                  <a:txBody>
                    <a:bodyPr/>
                    <a:lstStyle/>
                    <a:p>
                      <a:r>
                        <a:rPr b="1" sz="1400">
                          <a:solidFill>
                            <a:srgbClr val="FFFFFF"/>
                          </a:solidFill>
                        </a:rPr>
                        <a:t>Status</a:t>
                      </a:r>
                    </a:p>
                  </a:txBody>
                  <a:tcPr>
                    <a:solidFill>
                      <a:srgbClr val="1B2A4A"/>
                    </a:solidFill>
                  </a:tcPr>
                </a:tc>
              </a:tr>
              <a:tr h="404948">
                <a:tc>
                  <a:txBody>
                    <a:bodyPr/>
                    <a:lstStyle/>
                    <a:p>
                      <a:pPr algn="ctr"/>
                      <a:r>
                        <a:rPr sz="1300" b="0">
                          <a:solidFill>
                            <a:srgbClr val="1B2A4A"/>
                          </a:solidFill>
                        </a:rPr>
                        <a:t>Phase A</a:t>
                      </a:r>
                    </a:p>
                  </a:txBody>
                  <a:tcPr>
                    <a:solidFill>
                      <a:srgbClr val="FFFFFF"/>
                    </a:solidFill>
                  </a:tcPr>
                </a:tc>
                <a:tc>
                  <a:txBody>
                    <a:bodyPr/>
                    <a:lstStyle/>
                    <a:p>
                      <a:pPr algn="l"/>
                      <a:r>
                        <a:rPr sz="1300" b="0">
                          <a:solidFill>
                            <a:srgbClr val="1B2A4A"/>
                          </a:solidFill>
                        </a:rPr>
                        <a:t>Linux tool documented &amp; reproduced, Xen build analyzed, design + PoC</a:t>
                      </a:r>
                    </a:p>
                  </a:txBody>
                  <a:tcPr>
                    <a:solidFill>
                      <a:srgbClr val="FFFFFF"/>
                    </a:solidFill>
                  </a:tcPr>
                </a:tc>
                <a:tc>
                  <a:txBody>
                    <a:bodyPr/>
                    <a:lstStyle/>
                    <a:p>
                      <a:pPr algn="ctr"/>
                      <a:r>
                        <a:rPr sz="1300" b="1">
                          <a:solidFill>
                            <a:srgbClr val="2E7D32"/>
                          </a:solidFill>
                        </a:rPr>
                        <a:t>Done</a:t>
                      </a:r>
                    </a:p>
                  </a:txBody>
                  <a:tcPr>
                    <a:solidFill>
                      <a:srgbClr val="FFFFFF"/>
                    </a:solidFill>
                  </a:tcPr>
                </a:tc>
              </a:tr>
              <a:tr h="404948">
                <a:tc>
                  <a:txBody>
                    <a:bodyPr/>
                    <a:lstStyle/>
                    <a:p>
                      <a:pPr algn="ctr"/>
                      <a:r>
                        <a:rPr sz="1300" b="0">
                          <a:solidFill>
                            <a:srgbClr val="1B2A4A"/>
                          </a:solidFill>
                        </a:rPr>
                        <a:t>Phase B</a:t>
                      </a:r>
                    </a:p>
                  </a:txBody>
                  <a:tcPr>
                    <a:solidFill>
                      <a:srgbClr val="F4F6F9"/>
                    </a:solidFill>
                  </a:tcPr>
                </a:tc>
                <a:tc>
                  <a:txBody>
                    <a:bodyPr/>
                    <a:lstStyle/>
                    <a:p>
                      <a:pPr algn="l"/>
                      <a:r>
                        <a:rPr sz="1300" b="0">
                          <a:solidFill>
                            <a:srgbClr val="1B2A4A"/>
                          </a:solidFill>
                        </a:rPr>
                        <a:t>Complete SBOM for the hypervisor core (x86_64 / arm64)</a:t>
                      </a:r>
                    </a:p>
                  </a:txBody>
                  <a:tcPr>
                    <a:solidFill>
                      <a:srgbClr val="F4F6F9"/>
                    </a:solidFill>
                  </a:tcPr>
                </a:tc>
                <a:tc>
                  <a:txBody>
                    <a:bodyPr/>
                    <a:lstStyle/>
                    <a:p>
                      <a:pPr algn="ctr"/>
                      <a:r>
                        <a:rPr sz="1300" b="1">
                          <a:solidFill>
                            <a:srgbClr val="2E7D32"/>
                          </a:solidFill>
                        </a:rPr>
                        <a:t>Done</a:t>
                      </a:r>
                    </a:p>
                  </a:txBody>
                  <a:tcPr>
                    <a:solidFill>
                      <a:srgbClr val="F4F6F9"/>
                    </a:solidFill>
                  </a:tcPr>
                </a:tc>
              </a:tr>
              <a:tr h="404948">
                <a:tc>
                  <a:txBody>
                    <a:bodyPr/>
                    <a:lstStyle/>
                    <a:p>
                      <a:pPr algn="ctr"/>
                      <a:r>
                        <a:rPr sz="1300" b="0">
                          <a:solidFill>
                            <a:srgbClr val="1B2A4A"/>
                          </a:solidFill>
                        </a:rPr>
                        <a:t>B-1</a:t>
                      </a:r>
                    </a:p>
                  </a:txBody>
                  <a:tcPr>
                    <a:solidFill>
                      <a:srgbClr val="FFFFFF"/>
                    </a:solidFill>
                  </a:tcPr>
                </a:tc>
                <a:tc>
                  <a:txBody>
                    <a:bodyPr/>
                    <a:lstStyle/>
                    <a:p>
                      <a:pPr algn="l"/>
                      <a:r>
                        <a:rPr sz="1300" b="0">
                          <a:solidFill>
                            <a:srgbClr val="1B2A4A"/>
                          </a:solidFill>
                        </a:rPr>
                        <a:t>External validator verification of the generated SBOM</a:t>
                      </a:r>
                    </a:p>
                  </a:txBody>
                  <a:tcPr>
                    <a:solidFill>
                      <a:srgbClr val="FFFFFF"/>
                    </a:solidFill>
                  </a:tcPr>
                </a:tc>
                <a:tc>
                  <a:txBody>
                    <a:bodyPr/>
                    <a:lstStyle/>
                    <a:p>
                      <a:pPr algn="ctr"/>
                      <a:r>
                        <a:rPr sz="1300" b="1">
                          <a:solidFill>
                            <a:srgbClr val="2E7D32"/>
                          </a:solidFill>
                        </a:rPr>
                        <a:t>Done</a:t>
                      </a:r>
                    </a:p>
                  </a:txBody>
                  <a:tcPr>
                    <a:solidFill>
                      <a:srgbClr val="FFFFFF"/>
                    </a:solidFill>
                  </a:tcPr>
                </a:tc>
              </a:tr>
              <a:tr h="404948">
                <a:tc>
                  <a:txBody>
                    <a:bodyPr/>
                    <a:lstStyle/>
                    <a:p>
                      <a:pPr algn="ctr"/>
                      <a:r>
                        <a:rPr sz="1300" b="0">
                          <a:solidFill>
                            <a:srgbClr val="1B2A4A"/>
                          </a:solidFill>
                        </a:rPr>
                        <a:t>B-6</a:t>
                      </a:r>
                    </a:p>
                  </a:txBody>
                  <a:tcPr>
                    <a:solidFill>
                      <a:srgbClr val="F4F6F9"/>
                    </a:solidFill>
                  </a:tcPr>
                </a:tc>
                <a:tc>
                  <a:txBody>
                    <a:bodyPr/>
                    <a:lstStyle/>
                    <a:p>
                      <a:pPr algn="l"/>
                      <a:r>
                        <a:rPr sz="1300" b="0">
                          <a:solidFill>
                            <a:srgbClr val="1B2A4A"/>
                          </a:solidFill>
                        </a:rPr>
                        <a:t>Verification on Arm builds (arm64)</a:t>
                      </a:r>
                    </a:p>
                  </a:txBody>
                  <a:tcPr>
                    <a:solidFill>
                      <a:srgbClr val="F4F6F9"/>
                    </a:solidFill>
                  </a:tcPr>
                </a:tc>
                <a:tc>
                  <a:txBody>
                    <a:bodyPr/>
                    <a:lstStyle/>
                    <a:p>
                      <a:pPr algn="ctr"/>
                      <a:r>
                        <a:rPr sz="1300" b="1">
                          <a:solidFill>
                            <a:srgbClr val="2E7D32"/>
                          </a:solidFill>
                        </a:rPr>
                        <a:t>Done</a:t>
                      </a:r>
                    </a:p>
                  </a:txBody>
                  <a:tcPr>
                    <a:solidFill>
                      <a:srgbClr val="F4F6F9"/>
                    </a:solidFill>
                  </a:tcPr>
                </a:tc>
              </a:tr>
              <a:tr h="404948">
                <a:tc>
                  <a:txBody>
                    <a:bodyPr/>
                    <a:lstStyle/>
                    <a:p>
                      <a:pPr algn="ctr"/>
                      <a:r>
                        <a:rPr sz="1300" b="0">
                          <a:solidFill>
                            <a:srgbClr val="1B2A4A"/>
                          </a:solidFill>
                        </a:rPr>
                        <a:t>B-7</a:t>
                      </a:r>
                    </a:p>
                  </a:txBody>
                  <a:tcPr>
                    <a:solidFill>
                      <a:srgbClr val="FFFFFF"/>
                    </a:solidFill>
                  </a:tcPr>
                </a:tc>
                <a:tc>
                  <a:txBody>
                    <a:bodyPr/>
                    <a:lstStyle/>
                    <a:p>
                      <a:pPr algn="l"/>
                      <a:r>
                        <a:rPr sz="1300" b="0">
                          <a:solidFill>
                            <a:srgbClr val="1B2A4A"/>
                          </a:solidFill>
                        </a:rPr>
                        <a:t>English reproduction runbook</a:t>
                      </a:r>
                    </a:p>
                  </a:txBody>
                  <a:tcPr>
                    <a:solidFill>
                      <a:srgbClr val="FFFFFF"/>
                    </a:solidFill>
                  </a:tcPr>
                </a:tc>
                <a:tc>
                  <a:txBody>
                    <a:bodyPr/>
                    <a:lstStyle/>
                    <a:p>
                      <a:pPr algn="ctr"/>
                      <a:r>
                        <a:rPr sz="1300" b="1">
                          <a:solidFill>
                            <a:srgbClr val="2E7D32"/>
                          </a:solidFill>
                        </a:rPr>
                        <a:t>Done</a:t>
                      </a:r>
                    </a:p>
                  </a:txBody>
                  <a:tcPr>
                    <a:solidFill>
                      <a:srgbClr val="FFFFFF"/>
                    </a:solidFill>
                  </a:tcPr>
                </a:tc>
              </a:tr>
              <a:tr h="404952">
                <a:tc>
                  <a:txBody>
                    <a:bodyPr/>
                    <a:lstStyle/>
                    <a:p>
                      <a:pPr algn="ctr"/>
                      <a:r>
                        <a:rPr sz="1300" b="0">
                          <a:solidFill>
                            <a:srgbClr val="1B2A4A"/>
                          </a:solidFill>
                        </a:rPr>
                        <a:t>B-8</a:t>
                      </a:r>
                    </a:p>
                  </a:txBody>
                  <a:tcPr>
                    <a:solidFill>
                      <a:srgbClr val="F4F6F9"/>
                    </a:solidFill>
                  </a:tcPr>
                </a:tc>
                <a:tc>
                  <a:txBody>
                    <a:bodyPr/>
                    <a:lstStyle/>
                    <a:p>
                      <a:pPr algn="l"/>
                      <a:r>
                        <a:rPr sz="1300" b="0">
                          <a:solidFill>
                            <a:srgbClr val="1B2A4A"/>
                          </a:solidFill>
                        </a:rPr>
                        <a:t>SBOM ↔ source traceability query</a:t>
                      </a:r>
                    </a:p>
                  </a:txBody>
                  <a:tcPr>
                    <a:solidFill>
                      <a:srgbClr val="F4F6F9"/>
                    </a:solidFill>
                  </a:tcPr>
                </a:tc>
                <a:tc>
                  <a:txBody>
                    <a:bodyPr/>
                    <a:lstStyle/>
                    <a:p>
                      <a:pPr algn="ctr"/>
                      <a:r>
                        <a:rPr sz="1300" b="1">
                          <a:solidFill>
                            <a:srgbClr val="2E7D32"/>
                          </a:solidFill>
                        </a:rPr>
                        <a:t>Done</a:t>
                      </a:r>
                    </a:p>
                  </a:txBody>
                  <a:tcPr>
                    <a:solidFill>
                      <a:srgbClr val="F4F6F9"/>
                    </a:solidFill>
                  </a:tcPr>
                </a:tc>
              </a:tr>
            </a:tbl>
          </a:graphicData>
        </a:graphic>
      </p:graphicFrame>
      <p:sp>
        <p:nvSpPr>
          <p:cNvPr id="8" name="TextBox 7"/>
          <p:cNvSpPr txBox="1"/>
          <p:nvPr/>
        </p:nvSpPr>
        <p:spPr>
          <a:xfrm>
            <a:off x="548640" y="4434840"/>
            <a:ext cx="11064240" cy="1463040"/>
          </a:xfrm>
          <a:prstGeom prst="rect">
            <a:avLst/>
          </a:prstGeom>
          <a:noFill/>
        </p:spPr>
        <p:txBody>
          <a:bodyPr wrap="square">
            <a:spAutoFit/>
          </a:bodyPr>
          <a:lstStyle/>
          <a:p>
            <a:pPr algn="l">
              <a:lnSpc>
                <a:spcPct val="135000"/>
              </a:lnSpc>
            </a:pPr>
            <a:r>
              <a:rPr sz="1700" b="1">
                <a:solidFill>
                  <a:srgbClr val="2E86AB"/>
                </a:solidFill>
                <a:latin typeface="Calibri"/>
              </a:rPr>
              <a:t>The upstream KernelSbom has been proven directly reusable for the Xen hypervisor core,</a:t>
            </a:r>
          </a:p>
          <a:p>
            <a:pPr algn="l">
              <a:lnSpc>
                <a:spcPct val="135000"/>
              </a:lnSpc>
            </a:pPr>
            <a:r>
              <a:rPr sz="1700" b="1">
                <a:solidFill>
                  <a:srgbClr val="2E86AB"/>
                </a:solidFill>
                <a:latin typeface="Calibri"/>
              </a:rPr>
              <a:t>unmodified, on both x86_64 and arm64.</a:t>
            </a:r>
          </a:p>
          <a:p>
            <a:pPr algn="l">
              <a:lnSpc>
                <a:spcPct val="135000"/>
              </a:lnSpc>
            </a:pPr>
            <a:r>
              <a:rPr sz="1700" b="1">
                <a:solidFill>
                  <a:srgbClr val="2E86AB"/>
                </a:solidFill>
                <a:latin typeface="Calibri"/>
              </a:rPr>
              <a:t>Change-impact traceability from source code is also complete and usable in practice.</a:t>
            </a:r>
          </a:p>
        </p:txBody>
      </p:sp>
      <p:sp>
        <p:nvSpPr>
          <p:cNvPr id="9" name="TextBox 8"/>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BACKLOG</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Remaining Work (1/2) — Expanding Overall Coverage</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8/10</a:t>
            </a:r>
          </a:p>
        </p:txBody>
      </p:sp>
      <p:sp>
        <p:nvSpPr>
          <p:cNvPr id="7" name="Rectangle 6"/>
          <p:cNvSpPr/>
          <p:nvPr/>
        </p:nvSpPr>
        <p:spPr>
          <a:xfrm>
            <a:off x="548640" y="132588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109728"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380744"/>
            <a:ext cx="8503920" cy="365760"/>
          </a:xfrm>
          <a:prstGeom prst="rect">
            <a:avLst/>
          </a:prstGeom>
          <a:noFill/>
        </p:spPr>
        <p:txBody>
          <a:bodyPr wrap="square">
            <a:spAutoFit/>
          </a:bodyPr>
          <a:lstStyle/>
          <a:p>
            <a:pPr algn="l"/>
            <a:r>
              <a:rPr sz="1700" b="1">
                <a:solidFill>
                  <a:srgbClr val="1B2A4A"/>
                </a:solidFill>
                <a:latin typeface="Calibri"/>
              </a:rPr>
              <a:t>A collector for tools/ and libs/ SBOMs</a:t>
            </a:r>
          </a:p>
        </p:txBody>
      </p:sp>
      <p:sp>
        <p:nvSpPr>
          <p:cNvPr id="10" name="Rectangle 9"/>
          <p:cNvSpPr/>
          <p:nvPr/>
        </p:nvSpPr>
        <p:spPr>
          <a:xfrm>
            <a:off x="9784080" y="138074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1380744"/>
            <a:ext cx="1554480" cy="347472"/>
          </a:xfrm>
          <a:prstGeom prst="rect">
            <a:avLst/>
          </a:prstGeom>
          <a:noFill/>
        </p:spPr>
        <p:txBody>
          <a:bodyPr wrap="square" anchor="ctr">
            <a:spAutoFit/>
          </a:bodyPr>
          <a:lstStyle/>
          <a:p>
            <a:pPr algn="ctr"/>
            <a:r>
              <a:rPr sz="1200" b="1">
                <a:solidFill>
                  <a:srgbClr val="FFFFFF"/>
                </a:solidFill>
                <a:latin typeface="Calibri"/>
              </a:rPr>
              <a:t>Medium</a:t>
            </a:r>
          </a:p>
        </p:txBody>
      </p:sp>
      <p:sp>
        <p:nvSpPr>
          <p:cNvPr id="12" name="TextBox 11"/>
          <p:cNvSpPr txBox="1"/>
          <p:nvPr/>
        </p:nvSpPr>
        <p:spPr>
          <a:xfrm>
            <a:off x="822960" y="178308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Add a mechanism to generate an SBOM for Xen’s userspace tools (xl, libxl, etc. — the autotools-built tools/ and libs/ trees)</a:t>
            </a:r>
          </a:p>
        </p:txBody>
      </p:sp>
      <p:sp>
        <p:nvSpPr>
          <p:cNvPr id="13" name="TextBox 12"/>
          <p:cNvSpPr txBox="1"/>
          <p:nvPr/>
        </p:nvSpPr>
        <p:spPr>
          <a:xfrm>
            <a:off x="822960" y="216712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The SBOM completed so far covers only the hypervisor core (xen/). Without userspace, it doesn’t cover the whole of Xen</a:t>
            </a:r>
          </a:p>
        </p:txBody>
      </p:sp>
      <p:sp>
        <p:nvSpPr>
          <p:cNvPr id="14" name="Rectangle 13"/>
          <p:cNvSpPr/>
          <p:nvPr/>
        </p:nvSpPr>
        <p:spPr>
          <a:xfrm>
            <a:off x="548640" y="260604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06040"/>
            <a:ext cx="109728"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660904"/>
            <a:ext cx="8503920" cy="365760"/>
          </a:xfrm>
          <a:prstGeom prst="rect">
            <a:avLst/>
          </a:prstGeom>
          <a:noFill/>
        </p:spPr>
        <p:txBody>
          <a:bodyPr wrap="square">
            <a:spAutoFit/>
          </a:bodyPr>
          <a:lstStyle/>
          <a:p>
            <a:pPr algn="l"/>
            <a:r>
              <a:rPr sz="1700" b="1">
                <a:solidFill>
                  <a:srgbClr val="1B2A4A"/>
                </a:solidFill>
                <a:latin typeface="Calibri"/>
              </a:rPr>
              <a:t>Automated reproduction in CI</a:t>
            </a:r>
          </a:p>
        </p:txBody>
      </p:sp>
      <p:sp>
        <p:nvSpPr>
          <p:cNvPr id="17" name="Rectangle 16"/>
          <p:cNvSpPr/>
          <p:nvPr/>
        </p:nvSpPr>
        <p:spPr>
          <a:xfrm>
            <a:off x="9784080" y="266090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0" y="2660904"/>
            <a:ext cx="1554480" cy="347472"/>
          </a:xfrm>
          <a:prstGeom prst="rect">
            <a:avLst/>
          </a:prstGeom>
          <a:noFill/>
        </p:spPr>
        <p:txBody>
          <a:bodyPr wrap="square" anchor="ctr">
            <a:spAutoFit/>
          </a:bodyPr>
          <a:lstStyle/>
          <a:p>
            <a:pPr algn="ctr"/>
            <a:r>
              <a:rPr sz="1200" b="1">
                <a:solidFill>
                  <a:srgbClr val="FFFFFF"/>
                </a:solidFill>
                <a:latin typeface="Calibri"/>
              </a:rPr>
              <a:t>Medium</a:t>
            </a:r>
          </a:p>
        </p:txBody>
      </p:sp>
      <p:sp>
        <p:nvSpPr>
          <p:cNvPr id="19" name="TextBox 18"/>
          <p:cNvSpPr txBox="1"/>
          <p:nvPr/>
        </p:nvSpPr>
        <p:spPr>
          <a:xfrm>
            <a:off x="822960" y="306324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Integrate SBOM generation into Xen’s normal build (make) so it regenerates automatically on every CI run</a:t>
            </a:r>
          </a:p>
        </p:txBody>
      </p:sp>
      <p:sp>
        <p:nvSpPr>
          <p:cNvPr id="20" name="TextBox 19"/>
          <p:cNvSpPr txBox="1"/>
          <p:nvPr/>
        </p:nvSpPr>
        <p:spPr>
          <a:xfrm>
            <a:off x="822960" y="344728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Currently run manually via this project’s own external script, not wired into Xen’s official build/CI flow</a:t>
            </a:r>
          </a:p>
        </p:txBody>
      </p:sp>
      <p:sp>
        <p:nvSpPr>
          <p:cNvPr id="21" name="Rectangle 20"/>
          <p:cNvSpPr/>
          <p:nvPr/>
        </p:nvSpPr>
        <p:spPr>
          <a:xfrm>
            <a:off x="548640" y="388620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86200"/>
            <a:ext cx="109728"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41064"/>
            <a:ext cx="8503920" cy="365760"/>
          </a:xfrm>
          <a:prstGeom prst="rect">
            <a:avLst/>
          </a:prstGeom>
          <a:noFill/>
        </p:spPr>
        <p:txBody>
          <a:bodyPr wrap="square">
            <a:spAutoFit/>
          </a:bodyPr>
          <a:lstStyle/>
          <a:p>
            <a:pPr algn="l"/>
            <a:r>
              <a:rPr sz="1700" b="1">
                <a:solidFill>
                  <a:srgbClr val="1B2A4A"/>
                </a:solidFill>
                <a:latin typeface="Calibri"/>
              </a:rPr>
              <a:t>Parser-coverage check on other build configs</a:t>
            </a:r>
          </a:p>
        </p:txBody>
      </p:sp>
      <p:sp>
        <p:nvSpPr>
          <p:cNvPr id="24" name="Rectangle 23"/>
          <p:cNvSpPr/>
          <p:nvPr/>
        </p:nvSpPr>
        <p:spPr>
          <a:xfrm>
            <a:off x="9784080" y="394106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3941064"/>
            <a:ext cx="1554480" cy="347472"/>
          </a:xfrm>
          <a:prstGeom prst="rect">
            <a:avLst/>
          </a:prstGeom>
          <a:noFill/>
        </p:spPr>
        <p:txBody>
          <a:bodyPr wrap="square" anchor="ctr">
            <a:spAutoFit/>
          </a:bodyPr>
          <a:lstStyle/>
          <a:p>
            <a:pPr algn="ctr"/>
            <a:r>
              <a:rPr sz="1200" b="1">
                <a:solidFill>
                  <a:srgbClr val="FFFFFF"/>
                </a:solidFill>
                <a:latin typeface="Calibri"/>
              </a:rPr>
              <a:t>Medium</a:t>
            </a:r>
          </a:p>
        </p:txBody>
      </p:sp>
      <p:sp>
        <p:nvSpPr>
          <p:cNvPr id="26" name="TextBox 25"/>
          <p:cNvSpPr txBox="1"/>
          <p:nvPr/>
        </p:nvSpPr>
        <p:spPr>
          <a:xfrm>
            <a:off x="822960" y="434340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Check whether unknown commands appear on build configs other than the two verified so far (x86_64 / arm64) — i.e. other combinations of config options</a:t>
            </a:r>
          </a:p>
        </p:txBody>
      </p:sp>
      <p:sp>
        <p:nvSpPr>
          <p:cNvPr id="27" name="TextBox 26"/>
          <p:cNvSpPr txBox="1"/>
          <p:nvPr/>
        </p:nvSpPr>
        <p:spPr>
          <a:xfrm>
            <a:off x="822960" y="472744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The arm64 finding — that the gap tracks enabled config options rather than architecture — suggests similar gaps are likely on other configs too</a:t>
            </a:r>
          </a:p>
        </p:txBody>
      </p:sp>
      <p:sp>
        <p:nvSpPr>
          <p:cNvPr id="28" name="Rectangle 27"/>
          <p:cNvSpPr/>
          <p:nvPr/>
        </p:nvSpPr>
        <p:spPr>
          <a:xfrm>
            <a:off x="548640" y="516636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6636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21224"/>
            <a:ext cx="8503920" cy="365760"/>
          </a:xfrm>
          <a:prstGeom prst="rect">
            <a:avLst/>
          </a:prstGeom>
          <a:noFill/>
        </p:spPr>
        <p:txBody>
          <a:bodyPr wrap="square">
            <a:spAutoFit/>
          </a:bodyPr>
          <a:lstStyle/>
          <a:p>
            <a:pPr algn="l"/>
            <a:r>
              <a:rPr sz="1700" b="1">
                <a:solidFill>
                  <a:srgbClr val="1B2A4A"/>
                </a:solidFill>
                <a:latin typeface="Calibri"/>
              </a:rPr>
              <a:t>Verification on arm32</a:t>
            </a:r>
          </a:p>
        </p:txBody>
      </p:sp>
      <p:sp>
        <p:nvSpPr>
          <p:cNvPr id="31" name="Rectangle 30"/>
          <p:cNvSpPr/>
          <p:nvPr/>
        </p:nvSpPr>
        <p:spPr>
          <a:xfrm>
            <a:off x="9784080" y="522122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0" y="5221224"/>
            <a:ext cx="1554480" cy="347472"/>
          </a:xfrm>
          <a:prstGeom prst="rect">
            <a:avLst/>
          </a:prstGeom>
          <a:noFill/>
        </p:spPr>
        <p:txBody>
          <a:bodyPr wrap="square" anchor="ctr">
            <a:spAutoFit/>
          </a:bodyPr>
          <a:lstStyle/>
          <a:p>
            <a:pPr algn="ctr"/>
            <a:r>
              <a:rPr sz="1200" b="1">
                <a:solidFill>
                  <a:srgbClr val="FFFFFF"/>
                </a:solidFill>
                <a:latin typeface="Calibri"/>
              </a:rPr>
              <a:t>Low</a:t>
            </a:r>
          </a:p>
        </p:txBody>
      </p:sp>
      <p:sp>
        <p:nvSpPr>
          <p:cNvPr id="33" name="TextBox 32"/>
          <p:cNvSpPr txBox="1"/>
          <p:nvPr/>
        </p:nvSpPr>
        <p:spPr>
          <a:xfrm>
            <a:off x="822960" y="562356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Following arm64, verify whether the SBOM can likewise be generated for the arm32 (32-bit Arm) architecture</a:t>
            </a:r>
          </a:p>
        </p:txBody>
      </p:sp>
      <p:sp>
        <p:nvSpPr>
          <p:cNvPr id="34" name="TextBox 33"/>
          <p:cNvSpPr txBox="1"/>
          <p:nvPr/>
        </p:nvSpPr>
        <p:spPr>
          <a:xfrm>
            <a:off x="822960" y="600760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An unverified architecture remains, and a config-dependent gap similar to arm64’s could appear there too</a:t>
            </a:r>
          </a:p>
        </p:txBody>
      </p:sp>
      <p:sp>
        <p:nvSpPr>
          <p:cNvPr id="35" name="TextBox 34"/>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BACKLOG</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Remaining Work (2/2) — Safety Case Linkage &amp; Other Items</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9/10</a:t>
            </a:r>
          </a:p>
        </p:txBody>
      </p:sp>
      <p:sp>
        <p:nvSpPr>
          <p:cNvPr id="7" name="Rectangle 6"/>
          <p:cNvSpPr/>
          <p:nvPr/>
        </p:nvSpPr>
        <p:spPr>
          <a:xfrm>
            <a:off x="548640" y="132588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109728" cy="1234440"/>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380744"/>
            <a:ext cx="8503920" cy="365760"/>
          </a:xfrm>
          <a:prstGeom prst="rect">
            <a:avLst/>
          </a:prstGeom>
          <a:noFill/>
        </p:spPr>
        <p:txBody>
          <a:bodyPr wrap="square">
            <a:spAutoFit/>
          </a:bodyPr>
          <a:lstStyle/>
          <a:p>
            <a:pPr algn="l"/>
            <a:r>
              <a:rPr sz="1700" b="1">
                <a:solidFill>
                  <a:srgbClr val="1B2A4A"/>
                </a:solidFill>
                <a:latin typeface="Calibri"/>
              </a:rPr>
              <a:t>Confirm whether Safety Case linkage is needed</a:t>
            </a:r>
          </a:p>
        </p:txBody>
      </p:sp>
      <p:sp>
        <p:nvSpPr>
          <p:cNvPr id="10" name="Rectangle 9"/>
          <p:cNvSpPr/>
          <p:nvPr/>
        </p:nvSpPr>
        <p:spPr>
          <a:xfrm>
            <a:off x="9784080" y="1380744"/>
            <a:ext cx="1554480" cy="347472"/>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1380744"/>
            <a:ext cx="1554480" cy="347472"/>
          </a:xfrm>
          <a:prstGeom prst="rect">
            <a:avLst/>
          </a:prstGeom>
          <a:noFill/>
        </p:spPr>
        <p:txBody>
          <a:bodyPr wrap="square" anchor="ctr">
            <a:spAutoFit/>
          </a:bodyPr>
          <a:lstStyle/>
          <a:p>
            <a:pPr algn="ctr"/>
            <a:r>
              <a:rPr sz="1200" b="1">
                <a:solidFill>
                  <a:srgbClr val="FFFFFF"/>
                </a:solidFill>
                <a:latin typeface="Calibri"/>
              </a:rPr>
              <a:t>High</a:t>
            </a:r>
          </a:p>
        </p:txBody>
      </p:sp>
      <p:sp>
        <p:nvSpPr>
          <p:cNvPr id="12" name="TextBox 11"/>
          <p:cNvSpPr txBox="1"/>
          <p:nvPr/>
        </p:nvSpPr>
        <p:spPr>
          <a:xfrm>
            <a:off x="822960" y="178308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Confirm with the Xen FuSa SIG whether linking the SBOM to safety requirements/verification records (the Safety Case) is actually needed</a:t>
            </a:r>
          </a:p>
        </p:txBody>
      </p:sp>
      <p:sp>
        <p:nvSpPr>
          <p:cNvPr id="13" name="TextBox 12"/>
          <p:cNvSpPr txBox="1"/>
          <p:nvPr/>
        </p:nvSpPr>
        <p:spPr>
          <a:xfrm>
            <a:off x="822960" y="216712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The answer changes what to tackle next. SPDX’s dedicated safety extension (the Safety Profile) is still mid-standardization (a release candidate), and getting ahead of it risks rework</a:t>
            </a:r>
          </a:p>
        </p:txBody>
      </p:sp>
      <p:sp>
        <p:nvSpPr>
          <p:cNvPr id="14" name="Rectangle 13"/>
          <p:cNvSpPr/>
          <p:nvPr/>
        </p:nvSpPr>
        <p:spPr>
          <a:xfrm>
            <a:off x="548640" y="260604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0604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660904"/>
            <a:ext cx="8503920" cy="365760"/>
          </a:xfrm>
          <a:prstGeom prst="rect">
            <a:avLst/>
          </a:prstGeom>
          <a:noFill/>
        </p:spPr>
        <p:txBody>
          <a:bodyPr wrap="square">
            <a:spAutoFit/>
          </a:bodyPr>
          <a:lstStyle/>
          <a:p>
            <a:pPr algn="l"/>
            <a:r>
              <a:rPr sz="1700" b="1">
                <a:solidFill>
                  <a:srgbClr val="1B2A4A"/>
                </a:solidFill>
                <a:latin typeface="Calibri"/>
              </a:rPr>
              <a:t>Implement the Safety Case linker (on hold)</a:t>
            </a:r>
          </a:p>
        </p:txBody>
      </p:sp>
      <p:sp>
        <p:nvSpPr>
          <p:cNvPr id="17" name="Rectangle 16"/>
          <p:cNvSpPr/>
          <p:nvPr/>
        </p:nvSpPr>
        <p:spPr>
          <a:xfrm>
            <a:off x="9784080" y="266090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0" y="2660904"/>
            <a:ext cx="1554480" cy="347472"/>
          </a:xfrm>
          <a:prstGeom prst="rect">
            <a:avLst/>
          </a:prstGeom>
          <a:noFill/>
        </p:spPr>
        <p:txBody>
          <a:bodyPr wrap="square" anchor="ctr">
            <a:spAutoFit/>
          </a:bodyPr>
          <a:lstStyle/>
          <a:p>
            <a:pPr algn="ctr"/>
            <a:r>
              <a:rPr sz="1200" b="1">
                <a:solidFill>
                  <a:srgbClr val="FFFFFF"/>
                </a:solidFill>
                <a:latin typeface="Calibri"/>
              </a:rPr>
              <a:t>On hold</a:t>
            </a:r>
          </a:p>
        </p:txBody>
      </p:sp>
      <p:sp>
        <p:nvSpPr>
          <p:cNvPr id="19" name="TextBox 18"/>
          <p:cNvSpPr txBox="1"/>
          <p:nvPr/>
        </p:nvSpPr>
        <p:spPr>
          <a:xfrm>
            <a:off x="822960" y="306324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If the confirmation above shows a need, implement a generator that automatically links the SBOM to Safety Case documents</a:t>
            </a:r>
          </a:p>
        </p:txBody>
      </p:sp>
      <p:sp>
        <p:nvSpPr>
          <p:cNvPr id="20" name="TextBox 19"/>
          <p:cNvSpPr txBox="1"/>
          <p:nvPr/>
        </p:nvSpPr>
        <p:spPr>
          <a:xfrm>
            <a:off x="822960" y="344728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Building this before the need is confirmed risks large rework if direction changes, so it is deliberately held pending that confirmation</a:t>
            </a:r>
          </a:p>
        </p:txBody>
      </p:sp>
      <p:sp>
        <p:nvSpPr>
          <p:cNvPr id="21" name="Rectangle 20"/>
          <p:cNvSpPr/>
          <p:nvPr/>
        </p:nvSpPr>
        <p:spPr>
          <a:xfrm>
            <a:off x="548640" y="388620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8620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41064"/>
            <a:ext cx="8503920" cy="365760"/>
          </a:xfrm>
          <a:prstGeom prst="rect">
            <a:avLst/>
          </a:prstGeom>
          <a:noFill/>
        </p:spPr>
        <p:txBody>
          <a:bodyPr wrap="square">
            <a:spAutoFit/>
          </a:bodyPr>
          <a:lstStyle/>
          <a:p>
            <a:pPr algn="l"/>
            <a:r>
              <a:rPr sz="1700" b="1">
                <a:solidFill>
                  <a:srgbClr val="1B2A4A"/>
                </a:solidFill>
                <a:latin typeface="Calibri"/>
              </a:rPr>
              <a:t>Propose improvements upstream to the Linux kernel</a:t>
            </a:r>
          </a:p>
        </p:txBody>
      </p:sp>
      <p:sp>
        <p:nvSpPr>
          <p:cNvPr id="24" name="Rectangle 23"/>
          <p:cNvSpPr/>
          <p:nvPr/>
        </p:nvSpPr>
        <p:spPr>
          <a:xfrm>
            <a:off x="9784080" y="394106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3941064"/>
            <a:ext cx="1554480" cy="347472"/>
          </a:xfrm>
          <a:prstGeom prst="rect">
            <a:avLst/>
          </a:prstGeom>
          <a:noFill/>
        </p:spPr>
        <p:txBody>
          <a:bodyPr wrap="square" anchor="ctr">
            <a:spAutoFit/>
          </a:bodyPr>
          <a:lstStyle/>
          <a:p>
            <a:pPr algn="ctr"/>
            <a:r>
              <a:rPr sz="1200" b="1">
                <a:solidFill>
                  <a:srgbClr val="FFFFFF"/>
                </a:solidFill>
                <a:latin typeface="Calibri"/>
              </a:rPr>
              <a:t>Low</a:t>
            </a:r>
          </a:p>
        </p:txBody>
      </p:sp>
      <p:sp>
        <p:nvSpPr>
          <p:cNvPr id="26" name="TextBox 25"/>
          <p:cNvSpPr txBox="1"/>
          <p:nvPr/>
        </p:nvSpPr>
        <p:spPr>
          <a:xfrm>
            <a:off x="822960" y="434340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Of the improvements found in this project, propose the generic ones (not Xen-specific, e.g. parser robustness) to KernelSbom’s upstream (the Linux kernel)</a:t>
            </a:r>
          </a:p>
        </p:txBody>
      </p:sp>
      <p:sp>
        <p:nvSpPr>
          <p:cNvPr id="27" name="TextBox 26"/>
          <p:cNvSpPr txBox="1"/>
          <p:nvPr/>
        </p:nvSpPr>
        <p:spPr>
          <a:xfrm>
            <a:off x="822960" y="472744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Generic fixes are easier to maintain long-term once merged upstream, rather than kept only in this project</a:t>
            </a:r>
          </a:p>
        </p:txBody>
      </p:sp>
      <p:sp>
        <p:nvSpPr>
          <p:cNvPr id="28" name="Rectangle 27"/>
          <p:cNvSpPr/>
          <p:nvPr/>
        </p:nvSpPr>
        <p:spPr>
          <a:xfrm>
            <a:off x="548640" y="516636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6636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21224"/>
            <a:ext cx="8503920" cy="365760"/>
          </a:xfrm>
          <a:prstGeom prst="rect">
            <a:avLst/>
          </a:prstGeom>
          <a:noFill/>
        </p:spPr>
        <p:txBody>
          <a:bodyPr wrap="square">
            <a:spAutoFit/>
          </a:bodyPr>
          <a:lstStyle/>
          <a:p>
            <a:pPr algn="l"/>
            <a:r>
              <a:rPr sz="1700" b="1">
                <a:solidFill>
                  <a:srgbClr val="1B2A4A"/>
                </a:solidFill>
                <a:latin typeface="Calibri"/>
              </a:rPr>
              <a:t>Decide on finishing the tree-sitter-bash experiment</a:t>
            </a:r>
          </a:p>
        </p:txBody>
      </p:sp>
      <p:sp>
        <p:nvSpPr>
          <p:cNvPr id="31" name="Rectangle 30"/>
          <p:cNvSpPr/>
          <p:nvPr/>
        </p:nvSpPr>
        <p:spPr>
          <a:xfrm>
            <a:off x="9784080" y="522122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0" y="5221224"/>
            <a:ext cx="1554480" cy="347472"/>
          </a:xfrm>
          <a:prstGeom prst="rect">
            <a:avLst/>
          </a:prstGeom>
          <a:noFill/>
        </p:spPr>
        <p:txBody>
          <a:bodyPr wrap="square" anchor="ctr">
            <a:spAutoFit/>
          </a:bodyPr>
          <a:lstStyle/>
          <a:p>
            <a:pPr algn="ctr"/>
            <a:r>
              <a:rPr sz="1200" b="1">
                <a:solidFill>
                  <a:srgbClr val="FFFFFF"/>
                </a:solidFill>
                <a:latin typeface="Calibri"/>
              </a:rPr>
              <a:t>Low</a:t>
            </a:r>
          </a:p>
        </p:txBody>
      </p:sp>
      <p:sp>
        <p:nvSpPr>
          <p:cNvPr id="33" name="TextBox 32"/>
          <p:cNvSpPr txBox="1"/>
          <p:nvPr/>
        </p:nvSpPr>
        <p:spPr>
          <a:xfrm>
            <a:off x="822960" y="562356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Decide whether to finish the AST-parsing experiment (see Appendix) that was measured and rejected this time, for possible future use</a:t>
            </a:r>
          </a:p>
        </p:txBody>
      </p:sp>
      <p:sp>
        <p:nvSpPr>
          <p:cNvPr id="34" name="TextBox 33"/>
          <p:cNvSpPr txBox="1"/>
          <p:nvPr/>
        </p:nvSpPr>
        <p:spPr>
          <a:xfrm>
            <a:off x="822960" y="600760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Currently unproven benefit means low priority, but it’s worth keeping as a hedge in case more complex shell syntax is encountered later</a:t>
            </a:r>
          </a:p>
        </p:txBody>
      </p:sp>
      <p:sp>
        <p:nvSpPr>
          <p:cNvPr id="35" name="TextBox 34"/>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BACKLOG</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Remaining Work (3/3) — Building Consensus with the Xen Community</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10/10</a:t>
            </a:r>
          </a:p>
        </p:txBody>
      </p:sp>
      <p:sp>
        <p:nvSpPr>
          <p:cNvPr id="7" name="Rectangle 6"/>
          <p:cNvSpPr/>
          <p:nvPr/>
        </p:nvSpPr>
        <p:spPr>
          <a:xfrm>
            <a:off x="548640" y="1325880"/>
            <a:ext cx="11064240" cy="155448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109728" cy="155448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380744"/>
            <a:ext cx="8503920" cy="365760"/>
          </a:xfrm>
          <a:prstGeom prst="rect">
            <a:avLst/>
          </a:prstGeom>
          <a:noFill/>
        </p:spPr>
        <p:txBody>
          <a:bodyPr wrap="square">
            <a:spAutoFit/>
          </a:bodyPr>
          <a:lstStyle/>
          <a:p>
            <a:pPr algn="l"/>
            <a:r>
              <a:rPr sz="1700" b="1">
                <a:solidFill>
                  <a:srgbClr val="1B2A4A"/>
                </a:solidFill>
                <a:latin typeface="Calibri"/>
              </a:rPr>
              <a:t>Maintenance policy for the parser layer</a:t>
            </a:r>
          </a:p>
        </p:txBody>
      </p:sp>
      <p:sp>
        <p:nvSpPr>
          <p:cNvPr id="10" name="Rectangle 9"/>
          <p:cNvSpPr/>
          <p:nvPr/>
        </p:nvSpPr>
        <p:spPr>
          <a:xfrm>
            <a:off x="9784080" y="138074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1380744"/>
            <a:ext cx="1554480" cy="347472"/>
          </a:xfrm>
          <a:prstGeom prst="rect">
            <a:avLst/>
          </a:prstGeom>
          <a:noFill/>
        </p:spPr>
        <p:txBody>
          <a:bodyPr wrap="square" anchor="ctr">
            <a:spAutoFit/>
          </a:bodyPr>
          <a:lstStyle/>
          <a:p>
            <a:pPr algn="ctr"/>
            <a:r>
              <a:rPr sz="1200" b="1">
                <a:solidFill>
                  <a:srgbClr val="FFFFFF"/>
                </a:solidFill>
                <a:latin typeface="Calibri"/>
              </a:rPr>
              <a:t>To discuss</a:t>
            </a:r>
          </a:p>
        </p:txBody>
      </p:sp>
      <p:sp>
        <p:nvSpPr>
          <p:cNvPr id="12" name="TextBox 11"/>
          <p:cNvSpPr txBox="1"/>
          <p:nvPr/>
        </p:nvSpPr>
        <p:spPr>
          <a:xfrm>
            <a:off x="822960" y="178308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When Xen’s build definitions (Makefiles, etc.) change, xen_parsers.py needs to keep up. Today that’s only a prototype-level manual process: eyeballing warning logs and checking how complete the SBOM looks</a:t>
            </a:r>
          </a:p>
        </p:txBody>
      </p:sp>
      <p:sp>
        <p:nvSpPr>
          <p:cNvPr id="13" name="TextBox 12"/>
          <p:cNvSpPr txBox="1"/>
          <p:nvPr/>
        </p:nvSpPr>
        <p:spPr>
          <a:xfrm>
            <a:off x="822960" y="216712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Build definitions changing over time is unremarkable for any OSS project, including Linux — but for Linux, keeping the parser registry current is part of Linux’s own upstream development process (scripts/sbom/ lives in the Linux tree). The Xen extension, by contrast, currently lives as an external layer in this project, not inside Xen’s own development flow</a:t>
            </a:r>
          </a:p>
        </p:txBody>
      </p:sp>
      <p:sp>
        <p:nvSpPr>
          <p:cNvPr id="14" name="Rectangle 13"/>
          <p:cNvSpPr/>
          <p:nvPr/>
        </p:nvSpPr>
        <p:spPr>
          <a:xfrm>
            <a:off x="548640" y="3063240"/>
            <a:ext cx="11064240" cy="1005840"/>
          </a:xfrm>
          <a:prstGeom prst="rect">
            <a:avLst/>
          </a:prstGeom>
          <a:solidFill>
            <a:srgbClr val="E8F3EE"/>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154680"/>
            <a:ext cx="10607040" cy="822960"/>
          </a:xfrm>
          <a:prstGeom prst="rect">
            <a:avLst/>
          </a:prstGeom>
          <a:noFill/>
        </p:spPr>
        <p:txBody>
          <a:bodyPr wrap="square">
            <a:spAutoFit/>
          </a:bodyPr>
          <a:lstStyle/>
          <a:p>
            <a:pPr algn="l">
              <a:lnSpc>
                <a:spcPct val="125000"/>
              </a:lnSpc>
            </a:pPr>
            <a:r>
              <a:rPr sz="1400" b="1">
                <a:solidFill>
                  <a:srgbClr val="2E7D32"/>
                </a:solidFill>
                <a:latin typeface="Calibri"/>
              </a:rPr>
              <a:t>How Xen wants to structure this maintenance (kept in this project, folded into Xen itself alongside CI integration (previous page), or something else) is not yet decided. A short discussion with the community — e.g. at a Xen Summit — would be worthwhile.</a:t>
            </a:r>
          </a:p>
        </p:txBody>
      </p:sp>
      <p:sp>
        <p:nvSpPr>
          <p:cNvPr id="16" name="TextBox 15"/>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926080"/>
            <a:ext cx="10332720" cy="914400"/>
          </a:xfrm>
          <a:prstGeom prst="rect">
            <a:avLst/>
          </a:prstGeom>
          <a:noFill/>
        </p:spPr>
        <p:txBody>
          <a:bodyPr wrap="square">
            <a:spAutoFit/>
          </a:bodyPr>
          <a:lstStyle/>
          <a:p>
            <a:pPr algn="l"/>
            <a:r>
              <a:rPr sz="4400" b="1">
                <a:solidFill>
                  <a:srgbClr val="FFFFFF"/>
                </a:solidFill>
                <a:latin typeface="Calibri"/>
              </a:rPr>
              <a:t>Appendix</a:t>
            </a:r>
          </a:p>
        </p:txBody>
      </p:sp>
      <p:sp>
        <p:nvSpPr>
          <p:cNvPr id="4" name="TextBox 3"/>
          <p:cNvSpPr txBox="1"/>
          <p:nvPr/>
        </p:nvSpPr>
        <p:spPr>
          <a:xfrm>
            <a:off x="914400" y="3749039"/>
            <a:ext cx="10332720" cy="457200"/>
          </a:xfrm>
          <a:prstGeom prst="rect">
            <a:avLst/>
          </a:prstGeom>
          <a:noFill/>
        </p:spPr>
        <p:txBody>
          <a:bodyPr wrap="square">
            <a:spAutoFit/>
          </a:bodyPr>
          <a:lstStyle/>
          <a:p>
            <a:pPr algn="l"/>
            <a:r>
              <a:rPr sz="1600" b="0">
                <a:solidFill>
                  <a:srgbClr val="CCCCCC"/>
                </a:solidFill>
                <a:latin typeface="Calibri"/>
              </a:rPr>
              <a:t>Details of secondary investigations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APPENDIX — ADR-0010</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Appendix A: Why tree-sitter-bash Was Not Adopted</a:t>
            </a:r>
          </a:p>
        </p:txBody>
      </p:sp>
      <p:sp>
        <p:nvSpPr>
          <p:cNvPr id="6" name="Rectangle 5"/>
          <p:cNvSpPr/>
          <p:nvPr/>
        </p:nvSpPr>
        <p:spPr>
          <a:xfrm>
            <a:off x="548640" y="1325880"/>
            <a:ext cx="1737360" cy="777240"/>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1737360" cy="777240"/>
          </a:xfrm>
          <a:prstGeom prst="rect">
            <a:avLst/>
          </a:prstGeom>
          <a:noFill/>
        </p:spPr>
        <p:txBody>
          <a:bodyPr wrap="square" anchor="ctr">
            <a:spAutoFit/>
          </a:bodyPr>
          <a:lstStyle/>
          <a:p>
            <a:pPr algn="ctr"/>
            <a:r>
              <a:rPr sz="1300" b="1">
                <a:solidFill>
                  <a:srgbClr val="FFFFFF"/>
                </a:solidFill>
                <a:latin typeface="Calibri"/>
              </a:rPr>
              <a:t>Concern / Hypothesis</a:t>
            </a:r>
          </a:p>
        </p:txBody>
      </p:sp>
      <p:sp>
        <p:nvSpPr>
          <p:cNvPr id="8" name="TextBox 7"/>
          <p:cNvSpPr txBox="1"/>
          <p:nvPr/>
        </p:nvSpPr>
        <p:spPr>
          <a:xfrm>
            <a:off x="2423160" y="1325880"/>
            <a:ext cx="9189720" cy="777240"/>
          </a:xfrm>
          <a:prstGeom prst="rect">
            <a:avLst/>
          </a:prstGeom>
          <a:noFill/>
        </p:spPr>
        <p:txBody>
          <a:bodyPr wrap="square" anchor="ctr">
            <a:spAutoFit/>
          </a:bodyPr>
          <a:lstStyle/>
          <a:p>
            <a:pPr algn="l">
              <a:lnSpc>
                <a:spcPct val="125000"/>
              </a:lnSpc>
            </a:pPr>
            <a:r>
              <a:rPr sz="1400" b="0">
                <a:solidFill>
                  <a:srgbClr val="1B2A4A"/>
                </a:solidFill>
                <a:latin typeface="Calibri"/>
              </a:rPr>
              <a:t>Xen’s build commands include complex shell syntax (if/while/pipes) that a regex-based parser might not handle, so an AST parser (tree-sitter-bash) was added as a trial.</a:t>
            </a:r>
          </a:p>
        </p:txBody>
      </p:sp>
      <p:sp>
        <p:nvSpPr>
          <p:cNvPr id="9" name="Rectangle 8"/>
          <p:cNvSpPr/>
          <p:nvPr/>
        </p:nvSpPr>
        <p:spPr>
          <a:xfrm>
            <a:off x="548640" y="2221991"/>
            <a:ext cx="1737360" cy="7772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21991"/>
            <a:ext cx="1737360" cy="777240"/>
          </a:xfrm>
          <a:prstGeom prst="rect">
            <a:avLst/>
          </a:prstGeom>
          <a:noFill/>
        </p:spPr>
        <p:txBody>
          <a:bodyPr wrap="square" anchor="ctr">
            <a:spAutoFit/>
          </a:bodyPr>
          <a:lstStyle/>
          <a:p>
            <a:pPr algn="ctr"/>
            <a:r>
              <a:rPr sz="1300" b="1">
                <a:solidFill>
                  <a:srgbClr val="FFFFFF"/>
                </a:solidFill>
                <a:latin typeface="Calibri"/>
              </a:rPr>
              <a:t>Method</a:t>
            </a:r>
          </a:p>
        </p:txBody>
      </p:sp>
      <p:sp>
        <p:nvSpPr>
          <p:cNvPr id="11" name="TextBox 10"/>
          <p:cNvSpPr txBox="1"/>
          <p:nvPr/>
        </p:nvSpPr>
        <p:spPr>
          <a:xfrm>
            <a:off x="2423160" y="2221991"/>
            <a:ext cx="9189720" cy="777240"/>
          </a:xfrm>
          <a:prstGeom prst="rect">
            <a:avLst/>
          </a:prstGeom>
          <a:noFill/>
        </p:spPr>
        <p:txBody>
          <a:bodyPr wrap="square" anchor="ctr">
            <a:spAutoFit/>
          </a:bodyPr>
          <a:lstStyle/>
          <a:p>
            <a:pPr algn="l">
              <a:lnSpc>
                <a:spcPct val="125000"/>
              </a:lnSpc>
            </a:pPr>
            <a:r>
              <a:rPr sz="1400" b="0">
                <a:solidFill>
                  <a:srgbClr val="1B2A4A"/>
                </a:solidFill>
                <a:latin typeface="Calibri"/>
              </a:rPr>
              <a:t>Measured all 303 savedcmd entries from an actual arm64 build, comparing which parser claims each command with and without the tree-sitter parser.</a:t>
            </a:r>
          </a:p>
        </p:txBody>
      </p:sp>
      <p:sp>
        <p:nvSpPr>
          <p:cNvPr id="12" name="Rectangle 11"/>
          <p:cNvSpPr/>
          <p:nvPr/>
        </p:nvSpPr>
        <p:spPr>
          <a:xfrm>
            <a:off x="548640" y="3118103"/>
            <a:ext cx="1737360" cy="96012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18103"/>
            <a:ext cx="1737360" cy="960120"/>
          </a:xfrm>
          <a:prstGeom prst="rect">
            <a:avLst/>
          </a:prstGeom>
          <a:noFill/>
        </p:spPr>
        <p:txBody>
          <a:bodyPr wrap="square" anchor="ctr">
            <a:spAutoFit/>
          </a:bodyPr>
          <a:lstStyle/>
          <a:p>
            <a:pPr algn="ctr"/>
            <a:r>
              <a:rPr sz="1300" b="1">
                <a:solidFill>
                  <a:srgbClr val="FFFFFF"/>
                </a:solidFill>
                <a:latin typeface="Calibri"/>
              </a:rPr>
              <a:t>Result (measured)</a:t>
            </a:r>
          </a:p>
        </p:txBody>
      </p:sp>
      <p:graphicFrame>
        <p:nvGraphicFramePr>
          <p:cNvPr id="14" name="Table 13"/>
          <p:cNvGraphicFramePr>
            <a:graphicFrameLocks noGrp="1"/>
          </p:cNvGraphicFramePr>
          <p:nvPr/>
        </p:nvGraphicFramePr>
        <p:xfrm>
          <a:off x="2423160" y="3118103"/>
          <a:ext cx="9189720" cy="960120"/>
        </p:xfrm>
        <a:graphic>
          <a:graphicData uri="http://schemas.openxmlformats.org/drawingml/2006/table">
            <a:tbl>
              <a:tblPr firstRow="1" bandRow="1">
                <a:tableStyleId>{5C22544A-7EE6-4342-B048-85BDC9FD1C3A}</a:tableStyleId>
              </a:tblPr>
              <a:tblGrid>
                <a:gridCol w="3108960"/>
                <a:gridCol w="1965960"/>
                <a:gridCol w="1965960"/>
                <a:gridCol w="2148840"/>
              </a:tblGrid>
              <a:tr h="480060">
                <a:tc>
                  <a:txBody>
                    <a:bodyPr/>
                    <a:lstStyle/>
                    <a:p>
                      <a:r>
                        <a:rPr b="1" sz="1200">
                          <a:solidFill>
                            <a:srgbClr val="FFFFFF"/>
                          </a:solidFill>
                        </a:rPr>
                        <a:t>Added parser</a:t>
                      </a:r>
                    </a:p>
                  </a:txBody>
                  <a:tcPr>
                    <a:solidFill>
                      <a:srgbClr val="1B2A4A"/>
                    </a:solidFill>
                  </a:tcPr>
                </a:tc>
                <a:tc>
                  <a:txBody>
                    <a:bodyPr/>
                    <a:lstStyle/>
                    <a:p>
                      <a:r>
                        <a:rPr b="1" sz="1200">
                          <a:solidFill>
                            <a:srgbClr val="FFFFFF"/>
                          </a:solidFill>
                        </a:rPr>
                        <a:t>Unknowns rescued</a:t>
                      </a:r>
                    </a:p>
                  </a:txBody>
                  <a:tcPr>
                    <a:solidFill>
                      <a:srgbClr val="1B2A4A"/>
                    </a:solidFill>
                  </a:tcPr>
                </a:tc>
                <a:tc>
                  <a:txBody>
                    <a:bodyPr/>
                    <a:lstStyle/>
                    <a:p>
                      <a:r>
                        <a:rPr b="1" sz="1200">
                          <a:solidFill>
                            <a:srgbClr val="FFFFFF"/>
                          </a:solidFill>
                        </a:rPr>
                        <a:t>Stolen from upstream</a:t>
                      </a:r>
                    </a:p>
                  </a:txBody>
                  <a:tcPr>
                    <a:solidFill>
                      <a:srgbClr val="1B2A4A"/>
                    </a:solidFill>
                  </a:tcPr>
                </a:tc>
                <a:tc>
                  <a:txBody>
                    <a:bodyPr/>
                    <a:lstStyle/>
                    <a:p>
                      <a:r>
                        <a:rPr b="1" sz="1200">
                          <a:solidFill>
                            <a:srgbClr val="FFFFFF"/>
                          </a:solidFill>
                        </a:rPr>
                        <a:t>Verdict</a:t>
                      </a:r>
                    </a:p>
                  </a:txBody>
                  <a:tcPr>
                    <a:solidFill>
                      <a:srgbClr val="1B2A4A"/>
                    </a:solidFill>
                  </a:tcPr>
                </a:tc>
              </a:tr>
              <a:tr h="480060">
                <a:tc>
                  <a:txBody>
                    <a:bodyPr/>
                    <a:lstStyle/>
                    <a:p>
                      <a:pPr algn="l"/>
                      <a:r>
                        <a:rPr sz="1200" b="0">
                          <a:solidFill>
                            <a:srgbClr val="1B2A4A"/>
                          </a:solidFill>
                        </a:rPr>
                        <a:t>tree-sitter-bash</a:t>
                      </a:r>
                    </a:p>
                    <a:p>
                      <a:pPr algn="l"/>
                      <a:r>
                        <a:rPr sz="1200" b="0">
                          <a:solidFill>
                            <a:srgbClr val="1B2A4A"/>
                          </a:solidFill>
                        </a:rPr>
                        <a:t>(_parse_complex_shell_command)</a:t>
                      </a:r>
                    </a:p>
                  </a:txBody>
                  <a:tcPr>
                    <a:solidFill>
                      <a:srgbClr val="F4F6F9"/>
                    </a:solidFill>
                  </a:tcPr>
                </a:tc>
                <a:tc>
                  <a:txBody>
                    <a:bodyPr/>
                    <a:lstStyle/>
                    <a:p>
                      <a:pPr algn="ctr"/>
                      <a:r>
                        <a:rPr sz="1200" b="0">
                          <a:solidFill>
                            <a:srgbClr val="1B2A4A"/>
                          </a:solidFill>
                        </a:rPr>
                        <a:t>0</a:t>
                      </a:r>
                    </a:p>
                  </a:txBody>
                  <a:tcPr>
                    <a:solidFill>
                      <a:srgbClr val="F4F6F9"/>
                    </a:solidFill>
                  </a:tcPr>
                </a:tc>
                <a:tc>
                  <a:txBody>
                    <a:bodyPr/>
                    <a:lstStyle/>
                    <a:p>
                      <a:pPr algn="ctr"/>
                      <a:r>
                        <a:rPr sz="1200" b="0">
                          <a:solidFill>
                            <a:srgbClr val="B00000"/>
                          </a:solidFill>
                        </a:rPr>
                        <a:t>7</a:t>
                      </a:r>
                    </a:p>
                  </a:txBody>
                  <a:tcPr>
                    <a:solidFill>
                      <a:srgbClr val="F4F6F9"/>
                    </a:solidFill>
                  </a:tcPr>
                </a:tc>
                <a:tc>
                  <a:txBody>
                    <a:bodyPr/>
                    <a:lstStyle/>
                    <a:p>
                      <a:pPr algn="ctr"/>
                      <a:r>
                        <a:rPr sz="1200" b="1">
                          <a:solidFill>
                            <a:srgbClr val="1B2A4A"/>
                          </a:solidFill>
                        </a:rPr>
                        <a:t>Pure regression</a:t>
                      </a:r>
                    </a:p>
                  </a:txBody>
                  <a:tcPr>
                    <a:solidFill>
                      <a:srgbClr val="F4F6F9"/>
                    </a:solidFill>
                  </a:tcPr>
                </a:tc>
              </a:tr>
            </a:tbl>
          </a:graphicData>
        </a:graphic>
      </p:graphicFrame>
      <p:sp>
        <p:nvSpPr>
          <p:cNvPr id="15" name="TextBox 14"/>
          <p:cNvSpPr txBox="1"/>
          <p:nvPr/>
        </p:nvSpPr>
        <p:spPr>
          <a:xfrm>
            <a:off x="2423160" y="4215383"/>
            <a:ext cx="9189720" cy="365760"/>
          </a:xfrm>
          <a:prstGeom prst="rect">
            <a:avLst/>
          </a:prstGeom>
          <a:noFill/>
        </p:spPr>
        <p:txBody>
          <a:bodyPr wrap="square">
            <a:spAutoFit/>
          </a:bodyPr>
          <a:lstStyle/>
          <a:p>
            <a:pPr algn="l"/>
            <a:r>
              <a:rPr sz="1200" b="0">
                <a:solidFill>
                  <a:srgbClr val="555555"/>
                </a:solidFill>
                <a:latin typeface="Calibri"/>
              </a:rPr>
              <a:t>* The claimed improvement (“parse success rate 48% → 99.6%”) that motivated this work was never actually measured — it was a pre-implementation expectation.</a:t>
            </a:r>
          </a:p>
        </p:txBody>
      </p:sp>
      <p:sp>
        <p:nvSpPr>
          <p:cNvPr id="16" name="Rectangle 15"/>
          <p:cNvSpPr/>
          <p:nvPr/>
        </p:nvSpPr>
        <p:spPr>
          <a:xfrm>
            <a:off x="548640" y="4672583"/>
            <a:ext cx="1737360" cy="7772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672583"/>
            <a:ext cx="1737360" cy="777240"/>
          </a:xfrm>
          <a:prstGeom prst="rect">
            <a:avLst/>
          </a:prstGeom>
          <a:noFill/>
        </p:spPr>
        <p:txBody>
          <a:bodyPr wrap="square" anchor="ctr">
            <a:spAutoFit/>
          </a:bodyPr>
          <a:lstStyle/>
          <a:p>
            <a:pPr algn="ctr"/>
            <a:r>
              <a:rPr sz="1300" b="1">
                <a:solidFill>
                  <a:srgbClr val="FFFFFF"/>
                </a:solidFill>
                <a:latin typeface="Calibri"/>
              </a:rPr>
              <a:t>Conclusion</a:t>
            </a:r>
          </a:p>
        </p:txBody>
      </p:sp>
      <p:sp>
        <p:nvSpPr>
          <p:cNvPr id="18" name="TextBox 17"/>
          <p:cNvSpPr txBox="1"/>
          <p:nvPr/>
        </p:nvSpPr>
        <p:spPr>
          <a:xfrm>
            <a:off x="2423160" y="4672583"/>
            <a:ext cx="9189720" cy="777240"/>
          </a:xfrm>
          <a:prstGeom prst="rect">
            <a:avLst/>
          </a:prstGeom>
          <a:noFill/>
        </p:spPr>
        <p:txBody>
          <a:bodyPr wrap="square" anchor="ctr">
            <a:spAutoFit/>
          </a:bodyPr>
          <a:lstStyle/>
          <a:p>
            <a:pPr algn="l">
              <a:lnSpc>
                <a:spcPct val="125000"/>
              </a:lnSpc>
            </a:pPr>
            <a:r>
              <a:rPr sz="1400" b="1">
                <a:solidFill>
                  <a:srgbClr val="1B2A4A"/>
                </a:solidFill>
                <a:latin typeface="Calibri"/>
              </a:rPr>
              <a:t>Rejected based on measured data (ADR-0010). The experimental code was moved to the experiment/tree-sitter-bash branch and is not part of the mainline. Lesson: decide from measurements, not expectations.</a:t>
            </a:r>
          </a:p>
        </p:txBody>
      </p:sp>
      <p:sp>
        <p:nvSpPr>
          <p:cNvPr id="19" name="TextBox 18"/>
          <p:cNvSpPr txBox="1"/>
          <p:nvPr/>
        </p:nvSpPr>
        <p:spPr>
          <a:xfrm>
            <a:off x="548640" y="6400800"/>
            <a:ext cx="11064240" cy="274320"/>
          </a:xfrm>
          <a:prstGeom prst="rect">
            <a:avLst/>
          </a:prstGeom>
          <a:noFill/>
        </p:spPr>
        <p:txBody>
          <a:bodyPr wrap="square">
            <a:spAutoFit/>
          </a:bodyPr>
          <a:lstStyle/>
          <a:p>
            <a:pPr algn="l"/>
            <a:r>
              <a:rPr sz="1050" b="0">
                <a:solidFill>
                  <a:srgbClr val="555555"/>
                </a:solidFill>
                <a:latin typeface="Calibri"/>
              </a:rPr>
              <a:t>Source: docs/{en,ja}/07-arm64-parser-gap-analysis.md §4, worklog/decisions.md ADR-0010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