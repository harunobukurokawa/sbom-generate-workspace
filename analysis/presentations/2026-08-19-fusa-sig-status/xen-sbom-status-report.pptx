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977639"/>
            <a:ext cx="12191695" cy="5486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103120"/>
            <a:ext cx="10332720" cy="457200"/>
          </a:xfrm>
          <a:prstGeom prst="rect">
            <a:avLst/>
          </a:prstGeom>
          <a:noFill/>
        </p:spPr>
        <p:txBody>
          <a:bodyPr wrap="square">
            <a:spAutoFit/>
          </a:bodyPr>
          <a:lstStyle/>
          <a:p>
            <a:pPr algn="l"/>
            <a:r>
              <a:rPr sz="1600" b="1">
                <a:solidFill>
                  <a:srgbClr val="9FC7E8"/>
                </a:solidFill>
                <a:latin typeface="Calibri"/>
              </a:rPr>
              <a:t>SPDX SBOM 生成 for Xen Hypervisor</a:t>
            </a:r>
          </a:p>
        </p:txBody>
      </p:sp>
      <p:sp>
        <p:nvSpPr>
          <p:cNvPr id="5" name="TextBox 4"/>
          <p:cNvSpPr txBox="1"/>
          <p:nvPr/>
        </p:nvSpPr>
        <p:spPr>
          <a:xfrm>
            <a:off x="914400" y="2514600"/>
            <a:ext cx="10332720" cy="1188720"/>
          </a:xfrm>
          <a:prstGeom prst="rect">
            <a:avLst/>
          </a:prstGeom>
          <a:noFill/>
        </p:spPr>
        <p:txBody>
          <a:bodyPr wrap="square">
            <a:spAutoFit/>
          </a:bodyPr>
          <a:lstStyle/>
          <a:p>
            <a:pPr algn="l"/>
            <a:r>
              <a:rPr sz="4400" b="1">
                <a:solidFill>
                  <a:srgbClr val="FFFFFF"/>
                </a:solidFill>
                <a:latin typeface="Calibri"/>
              </a:rPr>
              <a:t>これまでの対応状況</a:t>
            </a:r>
          </a:p>
        </p:txBody>
      </p:sp>
      <p:sp>
        <p:nvSpPr>
          <p:cNvPr id="6" name="TextBox 5"/>
          <p:cNvSpPr txBox="1"/>
          <p:nvPr/>
        </p:nvSpPr>
        <p:spPr>
          <a:xfrm>
            <a:off x="914400" y="4160520"/>
            <a:ext cx="10332720" cy="457200"/>
          </a:xfrm>
          <a:prstGeom prst="rect">
            <a:avLst/>
          </a:prstGeom>
          <a:noFill/>
        </p:spPr>
        <p:txBody>
          <a:bodyPr wrap="square">
            <a:spAutoFit/>
          </a:bodyPr>
          <a:lstStyle/>
          <a:p>
            <a:pPr algn="l"/>
            <a:r>
              <a:rPr sz="1800" b="0">
                <a:solidFill>
                  <a:srgbClr val="CCD8E6"/>
                </a:solidFill>
                <a:latin typeface="Calibri"/>
              </a:rPr>
              <a:t>Xen Functional Safety (FuSa) SIG 共有用</a:t>
            </a:r>
          </a:p>
        </p:txBody>
      </p:sp>
      <p:sp>
        <p:nvSpPr>
          <p:cNvPr id="7" name="TextBox 6"/>
          <p:cNvSpPr txBox="1"/>
          <p:nvPr/>
        </p:nvSpPr>
        <p:spPr>
          <a:xfrm>
            <a:off x="914400" y="6035040"/>
            <a:ext cx="10332720" cy="457200"/>
          </a:xfrm>
          <a:prstGeom prst="rect">
            <a:avLst/>
          </a:prstGeom>
          <a:noFill/>
        </p:spPr>
        <p:txBody>
          <a:bodyPr wrap="square">
            <a:spAutoFit/>
          </a:bodyPr>
          <a:lstStyle/>
          <a:p>
            <a:pPr algn="l"/>
            <a:r>
              <a:rPr sz="1300" b="0">
                <a:solidFill>
                  <a:srgbClr val="8A9BB0"/>
                </a:solidFill>
                <a:latin typeface="Calibri"/>
              </a:rPr>
              <a:t>共同作業: Harunobu Kurokawa / Ito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OVERVIEW</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サマリ</a:t>
            </a:r>
          </a:p>
        </p:txBody>
      </p:sp>
      <p:sp>
        <p:nvSpPr>
          <p:cNvPr id="6" name="TextBox 5"/>
          <p:cNvSpPr txBox="1"/>
          <p:nvPr/>
        </p:nvSpPr>
        <p:spPr>
          <a:xfrm>
            <a:off x="11247120" y="411480"/>
            <a:ext cx="731520" cy="365760"/>
          </a:xfrm>
          <a:prstGeom prst="rect">
            <a:avLst/>
          </a:prstGeom>
          <a:noFill/>
        </p:spPr>
        <p:txBody>
          <a:bodyPr wrap="square">
            <a:spAutoFit/>
          </a:bodyPr>
          <a:lstStyle/>
          <a:p>
            <a:pPr algn="r"/>
            <a:r>
              <a:rPr sz="1200" b="0">
                <a:solidFill>
                  <a:srgbClr val="BBCCDD"/>
                </a:solidFill>
                <a:latin typeface="Calibri"/>
              </a:rPr>
              <a:t>2/9</a:t>
            </a:r>
          </a:p>
        </p:txBody>
      </p:sp>
      <p:sp>
        <p:nvSpPr>
          <p:cNvPr id="7" name="TextBox 6"/>
          <p:cNvSpPr txBox="1"/>
          <p:nvPr/>
        </p:nvSpPr>
        <p:spPr>
          <a:xfrm>
            <a:off x="548640" y="1371600"/>
            <a:ext cx="11064240" cy="2926080"/>
          </a:xfrm>
          <a:prstGeom prst="rect">
            <a:avLst/>
          </a:prstGeom>
          <a:noFill/>
        </p:spPr>
        <p:txBody>
          <a:bodyPr wrap="square">
            <a:spAutoFit/>
          </a:bodyPr>
          <a:lstStyle/>
          <a:p>
            <a:pPr>
              <a:lnSpc>
                <a:spcPct val="110000"/>
              </a:lnSpc>
              <a:spcAft>
                <a:spcPts val="1400"/>
              </a:spcAft>
            </a:pPr>
            <a:r>
              <a:rPr sz="1900" b="0">
                <a:solidFill>
                  <a:srgbClr val="1B2A4A"/>
                </a:solidFill>
                <a:latin typeface="Calibri"/>
              </a:rPr>
              <a:t>■  目標: Linux カーネルに統合済みの SPDX-SBOM 生成ツール</a:t>
            </a:r>
          </a:p>
          <a:p>
            <a:pPr>
              <a:lnSpc>
                <a:spcPct val="110000"/>
              </a:lnSpc>
              <a:spcAft>
                <a:spcPts val="1400"/>
              </a:spcAft>
            </a:pPr>
            <a:r>
              <a:rPr sz="1500" b="0">
                <a:solidFill>
                  <a:srgbClr val="1B2A4A"/>
                </a:solidFill>
                <a:latin typeface="Calibri"/>
              </a:rPr>
              <a:t>–  (scripts/sbom/, “KernelSbom”, v7.0) を再利用し、</a:t>
            </a:r>
          </a:p>
          <a:p>
            <a:pPr>
              <a:lnSpc>
                <a:spcPct val="110000"/>
              </a:lnSpc>
              <a:spcAft>
                <a:spcPts val="1400"/>
              </a:spcAft>
            </a:pPr>
            <a:r>
              <a:rPr sz="1500" b="0">
                <a:solidFill>
                  <a:srgbClr val="1B2A4A"/>
                </a:solidFill>
                <a:latin typeface="Calibri"/>
              </a:rPr>
              <a:t>–  Xen ハイパーバイザー自身の SPDX 3.0.1 SBOM を自動生成する</a:t>
            </a:r>
          </a:p>
          <a:p>
            <a:pPr>
              <a:lnSpc>
                <a:spcPct val="110000"/>
              </a:lnSpc>
              <a:spcAft>
                <a:spcPts val="1400"/>
              </a:spcAft>
            </a:pPr>
            <a:r>
              <a:rPr sz="1900" b="0">
                <a:solidFill>
                  <a:srgbClr val="1B2A4A"/>
                </a:solidFill>
                <a:latin typeface="Calibri"/>
              </a:rPr>
              <a:t>■  背景: Xen の機能安全 (FuSa) 対応 — IEC 61508 / ISO 26262 — を</a:t>
            </a:r>
          </a:p>
          <a:p>
            <a:pPr>
              <a:lnSpc>
                <a:spcPct val="110000"/>
              </a:lnSpc>
              <a:spcAft>
                <a:spcPts val="1400"/>
              </a:spcAft>
            </a:pPr>
            <a:r>
              <a:rPr sz="1500" b="0">
                <a:solidFill>
                  <a:srgbClr val="1B2A4A"/>
                </a:solidFill>
                <a:latin typeface="Calibri"/>
              </a:rPr>
              <a:t>–  SBOM 生成とトレーサビリティの面から支援する</a:t>
            </a:r>
          </a:p>
          <a:p>
            <a:pPr>
              <a:lnSpc>
                <a:spcPct val="110000"/>
              </a:lnSpc>
              <a:spcAft>
                <a:spcPts val="1400"/>
              </a:spcAft>
            </a:pPr>
            <a:r>
              <a:rPr sz="1900" b="0">
                <a:solidFill>
                  <a:srgbClr val="1B2A4A"/>
                </a:solidFill>
                <a:latin typeface="Calibri"/>
              </a:rPr>
              <a:t>■  採用したアプローチ: 上流の KernelSbom は無改造のまま使用し、</a:t>
            </a:r>
          </a:p>
          <a:p>
            <a:pPr>
              <a:lnSpc>
                <a:spcPct val="110000"/>
              </a:lnSpc>
              <a:spcAft>
                <a:spcPts val="1400"/>
              </a:spcAft>
            </a:pPr>
            <a:r>
              <a:rPr sz="1500" b="0">
                <a:solidFill>
                  <a:srgbClr val="1B2A4A"/>
                </a:solidFill>
                <a:latin typeface="Calibri"/>
              </a:rPr>
              <a:t>–  Xen 固有の処理は実行時にのみ追加する構成とした</a:t>
            </a:r>
          </a:p>
        </p:txBody>
      </p:sp>
      <p:sp>
        <p:nvSpPr>
          <p:cNvPr id="8" name="Rectangle 7"/>
          <p:cNvSpPr/>
          <p:nvPr/>
        </p:nvSpPr>
        <p:spPr>
          <a:xfrm>
            <a:off x="548640" y="4480560"/>
            <a:ext cx="11064240" cy="1463040"/>
          </a:xfrm>
          <a:prstGeom prst="rect">
            <a:avLst/>
          </a:prstGeom>
          <a:solidFill>
            <a:srgbClr val="E8F3EE"/>
          </a:solidFill>
          <a:ln w="1905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4572000"/>
            <a:ext cx="10515600" cy="365760"/>
          </a:xfrm>
          <a:prstGeom prst="rect">
            <a:avLst/>
          </a:prstGeom>
          <a:noFill/>
        </p:spPr>
        <p:txBody>
          <a:bodyPr wrap="square">
            <a:spAutoFit/>
          </a:bodyPr>
          <a:lstStyle/>
          <a:p>
            <a:pPr algn="l"/>
            <a:r>
              <a:rPr sz="1500" b="1">
                <a:solidFill>
                  <a:srgbClr val="2E7D32"/>
                </a:solidFill>
                <a:latin typeface="Calibri"/>
              </a:rPr>
              <a:t>結論</a:t>
            </a:r>
          </a:p>
        </p:txBody>
      </p:sp>
      <p:sp>
        <p:nvSpPr>
          <p:cNvPr id="10" name="TextBox 9"/>
          <p:cNvSpPr txBox="1"/>
          <p:nvPr/>
        </p:nvSpPr>
        <p:spPr>
          <a:xfrm>
            <a:off x="822960" y="4937760"/>
            <a:ext cx="10515600" cy="914400"/>
          </a:xfrm>
          <a:prstGeom prst="rect">
            <a:avLst/>
          </a:prstGeom>
          <a:noFill/>
        </p:spPr>
        <p:txBody>
          <a:bodyPr wrap="square">
            <a:spAutoFit/>
          </a:bodyPr>
          <a:lstStyle/>
          <a:p>
            <a:pPr algn="l">
              <a:lnSpc>
                <a:spcPct val="130000"/>
              </a:lnSpc>
            </a:pPr>
            <a:r>
              <a:rPr sz="1800" b="1">
                <a:solidFill>
                  <a:srgbClr val="1B2A4A"/>
                </a:solidFill>
                <a:latin typeface="Calibri"/>
              </a:rPr>
              <a:t>上流ツールは、無改造のまま x86_64 / arm64 いずれの Xen ハイパーバイザーにも</a:t>
            </a:r>
          </a:p>
          <a:p>
            <a:pPr algn="l">
              <a:lnSpc>
                <a:spcPct val="130000"/>
              </a:lnSpc>
            </a:pPr>
            <a:r>
              <a:rPr sz="1800" b="1">
                <a:solidFill>
                  <a:srgbClr val="1B2A4A"/>
                </a:solidFill>
                <a:latin typeface="Calibri"/>
              </a:rPr>
              <a:t>そのまま再利用できることを実証した。</a:t>
            </a:r>
          </a:p>
        </p:txBody>
      </p:sp>
      <p:sp>
        <p:nvSpPr>
          <p:cNvPr id="11" name="TextBox 10"/>
          <p:cNvSpPr txBox="1"/>
          <p:nvPr/>
        </p:nvSpPr>
        <p:spPr>
          <a:xfrm>
            <a:off x="457200" y="6537960"/>
            <a:ext cx="7315200" cy="274320"/>
          </a:xfrm>
          <a:prstGeom prst="rect">
            <a:avLst/>
          </a:prstGeom>
          <a:noFill/>
        </p:spPr>
        <p:txBody>
          <a:bodyPr wrap="square">
            <a:spAutoFit/>
          </a:bodyPr>
          <a:lstStyle/>
          <a:p>
            <a:pPr algn="l"/>
            <a:r>
              <a:rPr sz="1000" b="0">
                <a:solidFill>
                  <a:srgbClr val="555555"/>
                </a:solidFill>
                <a:latin typeface="Calibri"/>
              </a:rPr>
              <a:t>Xen SPDX SBOM Project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TRIAL FLOW</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SBOM 生成の処理フロー</a:t>
            </a:r>
          </a:p>
        </p:txBody>
      </p:sp>
      <p:sp>
        <p:nvSpPr>
          <p:cNvPr id="6" name="TextBox 5"/>
          <p:cNvSpPr txBox="1"/>
          <p:nvPr/>
        </p:nvSpPr>
        <p:spPr>
          <a:xfrm>
            <a:off x="11247120" y="411480"/>
            <a:ext cx="731520" cy="365760"/>
          </a:xfrm>
          <a:prstGeom prst="rect">
            <a:avLst/>
          </a:prstGeom>
          <a:noFill/>
        </p:spPr>
        <p:txBody>
          <a:bodyPr wrap="square">
            <a:spAutoFit/>
          </a:bodyPr>
          <a:lstStyle/>
          <a:p>
            <a:pPr algn="r"/>
            <a:r>
              <a:rPr sz="1200" b="0">
                <a:solidFill>
                  <a:srgbClr val="BBCCDD"/>
                </a:solidFill>
                <a:latin typeface="Calibri"/>
              </a:rPr>
              <a:t>3/9</a:t>
            </a:r>
          </a:p>
        </p:txBody>
      </p:sp>
      <p:sp>
        <p:nvSpPr>
          <p:cNvPr id="7" name="Rectangle 6"/>
          <p:cNvSpPr/>
          <p:nvPr/>
        </p:nvSpPr>
        <p:spPr>
          <a:xfrm>
            <a:off x="548640" y="1325880"/>
            <a:ext cx="3383280" cy="2011680"/>
          </a:xfrm>
          <a:prstGeom prst="rect">
            <a:avLst/>
          </a:prstGeom>
          <a:solidFill>
            <a:srgbClr val="F4F6F9"/>
          </a:solidFill>
          <a:ln w="19050">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444752"/>
            <a:ext cx="3017520" cy="640080"/>
          </a:xfrm>
          <a:prstGeom prst="rect">
            <a:avLst/>
          </a:prstGeom>
          <a:noFill/>
        </p:spPr>
        <p:txBody>
          <a:bodyPr wrap="square">
            <a:spAutoFit/>
          </a:bodyPr>
          <a:lstStyle/>
          <a:p>
            <a:pPr algn="l"/>
            <a:r>
              <a:rPr sz="1500" b="1">
                <a:solidFill>
                  <a:srgbClr val="1B2A4A"/>
                </a:solidFill>
                <a:latin typeface="Calibri"/>
              </a:rPr>
              <a:t>① 上流ツール (KernelSbom)</a:t>
            </a:r>
          </a:p>
        </p:txBody>
      </p:sp>
      <p:sp>
        <p:nvSpPr>
          <p:cNvPr id="9" name="TextBox 8"/>
          <p:cNvSpPr txBox="1"/>
          <p:nvPr/>
        </p:nvSpPr>
        <p:spPr>
          <a:xfrm>
            <a:off x="731520" y="2057400"/>
            <a:ext cx="3017520" cy="1188720"/>
          </a:xfrm>
          <a:prstGeom prst="rect">
            <a:avLst/>
          </a:prstGeom>
          <a:noFill/>
        </p:spPr>
        <p:txBody>
          <a:bodyPr wrap="square">
            <a:spAutoFit/>
          </a:bodyPr>
          <a:lstStyle/>
          <a:p>
            <a:pPr algn="l">
              <a:lnSpc>
                <a:spcPct val="125000"/>
              </a:lnSpc>
            </a:pPr>
            <a:r>
              <a:rPr sz="1250" b="0">
                <a:solidFill>
                  <a:srgbClr val="555555"/>
                </a:solidFill>
                <a:latin typeface="Calibri"/>
              </a:rPr>
              <a:t>Linux カーネルに統合済みの</a:t>
            </a:r>
          </a:p>
          <a:p>
            <a:pPr algn="l">
              <a:lnSpc>
                <a:spcPct val="125000"/>
              </a:lnSpc>
            </a:pPr>
            <a:r>
              <a:rPr sz="1250" b="0">
                <a:solidFill>
                  <a:srgbClr val="555555"/>
                </a:solidFill>
                <a:latin typeface="Calibri"/>
              </a:rPr>
              <a:t>SBOM 生成ツール本体(無改造)。</a:t>
            </a:r>
          </a:p>
          <a:p>
            <a:pPr algn="l">
              <a:lnSpc>
                <a:spcPct val="125000"/>
              </a:lnSpc>
            </a:pPr>
            <a:r>
              <a:rPr sz="1250" b="0">
                <a:solidFill>
                  <a:srgbClr val="555555"/>
                </a:solidFill>
                <a:latin typeface="Calibri"/>
              </a:rPr>
              <a:t>Kbuild の .cmd ファイルを辿り</a:t>
            </a:r>
          </a:p>
          <a:p>
            <a:pPr algn="l">
              <a:lnSpc>
                <a:spcPct val="125000"/>
              </a:lnSpc>
            </a:pPr>
            <a:r>
              <a:rPr sz="1250" b="0">
                <a:solidFill>
                  <a:srgbClr val="555555"/>
                </a:solidFill>
                <a:latin typeface="Calibri"/>
              </a:rPr>
              <a:t>ビルドコマンドグラフを構築</a:t>
            </a:r>
          </a:p>
        </p:txBody>
      </p:sp>
      <p:sp>
        <p:nvSpPr>
          <p:cNvPr id="10" name="Right Arrow 9"/>
          <p:cNvSpPr/>
          <p:nvPr/>
        </p:nvSpPr>
        <p:spPr>
          <a:xfrm>
            <a:off x="3961920" y="2194560"/>
            <a:ext cx="351480" cy="457200"/>
          </a:xfrm>
          <a:prstGeom prst="rightArrow">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325880"/>
            <a:ext cx="3383280" cy="2011680"/>
          </a:xfrm>
          <a:prstGeom prst="rect">
            <a:avLst/>
          </a:prstGeom>
          <a:solidFill>
            <a:srgbClr val="F4F6F9"/>
          </a:solidFill>
          <a:ln w="19050">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444752"/>
            <a:ext cx="3017520" cy="640080"/>
          </a:xfrm>
          <a:prstGeom prst="rect">
            <a:avLst/>
          </a:prstGeom>
          <a:noFill/>
        </p:spPr>
        <p:txBody>
          <a:bodyPr wrap="square">
            <a:spAutoFit/>
          </a:bodyPr>
          <a:lstStyle/>
          <a:p>
            <a:pPr algn="l"/>
            <a:r>
              <a:rPr sz="1500" b="1">
                <a:solidFill>
                  <a:srgbClr val="1B2A4A"/>
                </a:solidFill>
                <a:latin typeface="Calibri"/>
              </a:rPr>
              <a:t>② Xen 拡張の実行時注入</a:t>
            </a:r>
          </a:p>
        </p:txBody>
      </p:sp>
      <p:sp>
        <p:nvSpPr>
          <p:cNvPr id="13" name="TextBox 12"/>
          <p:cNvSpPr txBox="1"/>
          <p:nvPr/>
        </p:nvSpPr>
        <p:spPr>
          <a:xfrm>
            <a:off x="4526280" y="2057400"/>
            <a:ext cx="3017520" cy="1188720"/>
          </a:xfrm>
          <a:prstGeom prst="rect">
            <a:avLst/>
          </a:prstGeom>
          <a:noFill/>
        </p:spPr>
        <p:txBody>
          <a:bodyPr wrap="square">
            <a:spAutoFit/>
          </a:bodyPr>
          <a:lstStyle/>
          <a:p>
            <a:pPr algn="l">
              <a:lnSpc>
                <a:spcPct val="125000"/>
              </a:lnSpc>
            </a:pPr>
            <a:r>
              <a:rPr sz="1250" b="0">
                <a:solidFill>
                  <a:srgbClr val="555555"/>
                </a:solidFill>
                <a:latin typeface="Calibri"/>
              </a:rPr>
              <a:t>xen_parsers.py (本プロジェクト</a:t>
            </a:r>
          </a:p>
          <a:p>
            <a:pPr algn="l">
              <a:lnSpc>
                <a:spcPct val="125000"/>
              </a:lnSpc>
            </a:pPr>
            <a:r>
              <a:rPr sz="1250" b="0">
                <a:solidFill>
                  <a:srgbClr val="555555"/>
                </a:solidFill>
                <a:latin typeface="Calibri"/>
              </a:rPr>
              <a:t>が用意した拡張ファイル) が</a:t>
            </a:r>
          </a:p>
          <a:p>
            <a:pPr algn="l">
              <a:lnSpc>
                <a:spcPct val="125000"/>
              </a:lnSpc>
            </a:pPr>
            <a:r>
              <a:rPr sz="1250" b="0">
                <a:solidFill>
                  <a:srgbClr val="555555"/>
                </a:solidFill>
                <a:latin typeface="Calibri"/>
              </a:rPr>
              <a:t>Xen 固有のパーサーを、実行中に</a:t>
            </a:r>
          </a:p>
          <a:p>
            <a:pPr algn="l">
              <a:lnSpc>
                <a:spcPct val="125000"/>
              </a:lnSpc>
            </a:pPr>
            <a:r>
              <a:rPr sz="1250" b="0">
                <a:solidFill>
                  <a:srgbClr val="555555"/>
                </a:solidFill>
                <a:latin typeface="Calibri"/>
              </a:rPr>
              <a:t>共有モジュールへ追加</a:t>
            </a:r>
          </a:p>
        </p:txBody>
      </p:sp>
      <p:sp>
        <p:nvSpPr>
          <p:cNvPr id="14" name="Right Arrow 13"/>
          <p:cNvSpPr/>
          <p:nvPr/>
        </p:nvSpPr>
        <p:spPr>
          <a:xfrm>
            <a:off x="7756680" y="2194560"/>
            <a:ext cx="351480" cy="457200"/>
          </a:xfrm>
          <a:prstGeom prst="rightArrow">
            <a:avLst/>
          </a:prstGeom>
          <a:solidFill>
            <a:srgbClr val="2E86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38160" y="1325880"/>
            <a:ext cx="3383280" cy="2011680"/>
          </a:xfrm>
          <a:prstGeom prst="rect">
            <a:avLst/>
          </a:prstGeom>
          <a:solidFill>
            <a:srgbClr val="F4F6F9"/>
          </a:solidFill>
          <a:ln w="19050">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0" y="1444752"/>
            <a:ext cx="3017520" cy="640080"/>
          </a:xfrm>
          <a:prstGeom prst="rect">
            <a:avLst/>
          </a:prstGeom>
          <a:noFill/>
        </p:spPr>
        <p:txBody>
          <a:bodyPr wrap="square">
            <a:spAutoFit/>
          </a:bodyPr>
          <a:lstStyle/>
          <a:p>
            <a:pPr algn="l"/>
            <a:r>
              <a:rPr sz="1500" b="1">
                <a:solidFill>
                  <a:srgbClr val="1B2A4A"/>
                </a:solidFill>
                <a:latin typeface="Calibri"/>
              </a:rPr>
              <a:t>③ 生成された Xen SPDX SBOM</a:t>
            </a:r>
          </a:p>
        </p:txBody>
      </p:sp>
      <p:sp>
        <p:nvSpPr>
          <p:cNvPr id="17" name="TextBox 16"/>
          <p:cNvSpPr txBox="1"/>
          <p:nvPr/>
        </p:nvSpPr>
        <p:spPr>
          <a:xfrm>
            <a:off x="8321040" y="2057400"/>
            <a:ext cx="3017520" cy="1188720"/>
          </a:xfrm>
          <a:prstGeom prst="rect">
            <a:avLst/>
          </a:prstGeom>
          <a:noFill/>
        </p:spPr>
        <p:txBody>
          <a:bodyPr wrap="square">
            <a:spAutoFit/>
          </a:bodyPr>
          <a:lstStyle/>
          <a:p>
            <a:pPr algn="l">
              <a:lnSpc>
                <a:spcPct val="125000"/>
              </a:lnSpc>
            </a:pPr>
            <a:r>
              <a:rPr sz="1250" b="0">
                <a:solidFill>
                  <a:srgbClr val="555555"/>
                </a:solidFill>
                <a:latin typeface="Calibri"/>
              </a:rPr>
              <a:t>prelink.o を起点に SPDX 3.0.1</a:t>
            </a:r>
          </a:p>
          <a:p>
            <a:pPr algn="l">
              <a:lnSpc>
                <a:spcPct val="125000"/>
              </a:lnSpc>
            </a:pPr>
            <a:r>
              <a:rPr sz="1250" b="0">
                <a:solidFill>
                  <a:srgbClr val="555555"/>
                </a:solidFill>
                <a:latin typeface="Calibri"/>
              </a:rPr>
              <a:t>JSON-LD を出力</a:t>
            </a:r>
          </a:p>
          <a:p>
            <a:pPr algn="l">
              <a:lnSpc>
                <a:spcPct val="125000"/>
              </a:lnSpc>
            </a:pPr>
            <a:r>
              <a:rPr sz="1250" b="0">
                <a:solidFill>
                  <a:srgbClr val="555555"/>
                </a:solidFill>
                <a:latin typeface="Calibri"/>
              </a:rPr>
              <a:t>(x86_64 / arm64)</a:t>
            </a:r>
          </a:p>
        </p:txBody>
      </p:sp>
      <p:sp>
        <p:nvSpPr>
          <p:cNvPr id="18" name="TextBox 17"/>
          <p:cNvSpPr txBox="1"/>
          <p:nvPr/>
        </p:nvSpPr>
        <p:spPr>
          <a:xfrm>
            <a:off x="548640" y="3520440"/>
            <a:ext cx="11064240" cy="1371600"/>
          </a:xfrm>
          <a:prstGeom prst="rect">
            <a:avLst/>
          </a:prstGeom>
          <a:noFill/>
        </p:spPr>
        <p:txBody>
          <a:bodyPr wrap="square">
            <a:spAutoFit/>
          </a:bodyPr>
          <a:lstStyle/>
          <a:p>
            <a:pPr>
              <a:lnSpc>
                <a:spcPct val="110000"/>
              </a:lnSpc>
              <a:spcAft>
                <a:spcPts val="700"/>
              </a:spcAft>
            </a:pPr>
            <a:r>
              <a:rPr sz="1450" b="0">
                <a:solidFill>
                  <a:srgbClr val="1B2A4A"/>
                </a:solidFill>
                <a:latin typeface="Calibri"/>
              </a:rPr>
              <a:t>■  なぜ「実行時注入」なのか: KernelSbom のソースファイルを一切変更しない代わりに、</a:t>
            </a:r>
          </a:p>
          <a:p>
            <a:pPr>
              <a:lnSpc>
                <a:spcPct val="110000"/>
              </a:lnSpc>
              <a:spcAft>
                <a:spcPts val="700"/>
              </a:spcAft>
            </a:pPr>
            <a:r>
              <a:rPr sz="1300" b="0">
                <a:solidFill>
                  <a:srgbClr val="1B2A4A"/>
                </a:solidFill>
                <a:latin typeface="Calibri"/>
              </a:rPr>
              <a:t>–  実行中に Python の共有モジュール(sys.modules)へパーサー定義を追加する。</a:t>
            </a:r>
          </a:p>
          <a:p>
            <a:pPr>
              <a:lnSpc>
                <a:spcPct val="110000"/>
              </a:lnSpc>
              <a:spcAft>
                <a:spcPts val="700"/>
              </a:spcAft>
            </a:pPr>
            <a:r>
              <a:rPr sz="1300" b="0">
                <a:solidFill>
                  <a:srgbClr val="1B2A4A"/>
                </a:solidFill>
                <a:latin typeface="Calibri"/>
              </a:rPr>
              <a:t>–  これにより Linux 側の将来のアップデートをそのまま取り込める</a:t>
            </a:r>
          </a:p>
          <a:p>
            <a:pPr>
              <a:lnSpc>
                <a:spcPct val="110000"/>
              </a:lnSpc>
              <a:spcAft>
                <a:spcPts val="700"/>
              </a:spcAft>
            </a:pPr>
            <a:r>
              <a:rPr sz="1450" b="0">
                <a:solidFill>
                  <a:srgbClr val="1B2A4A"/>
                </a:solidFill>
                <a:latin typeface="Calibri"/>
              </a:rPr>
              <a:t>■  なぜ「存在するファイルだけに絞る」処理が要るのか: Xen のビルドには「一時ファイル</a:t>
            </a:r>
          </a:p>
          <a:p>
            <a:pPr>
              <a:lnSpc>
                <a:spcPct val="110000"/>
              </a:lnSpc>
              <a:spcAft>
                <a:spcPts val="700"/>
              </a:spcAft>
            </a:pPr>
            <a:r>
              <a:rPr sz="1300" b="0">
                <a:solidFill>
                  <a:srgbClr val="1B2A4A"/>
                </a:solidFill>
                <a:latin typeface="Calibri"/>
              </a:rPr>
              <a:t>–  X.new を生成し、後で X へ mv する」独特の書き方があり、素直に解釈すると</a:t>
            </a:r>
          </a:p>
          <a:p>
            <a:pPr>
              <a:lnSpc>
                <a:spcPct val="110000"/>
              </a:lnSpc>
              <a:spcAft>
                <a:spcPts val="700"/>
              </a:spcAft>
            </a:pPr>
            <a:r>
              <a:rPr sz="1300" b="0">
                <a:solidFill>
                  <a:srgbClr val="1B2A4A"/>
                </a:solidFill>
                <a:latin typeface="Calibri"/>
              </a:rPr>
              <a:t>–  存在しないファイルパスを参照してしまうため、実在するファイルのみへ絞り込む</a:t>
            </a:r>
          </a:p>
        </p:txBody>
      </p:sp>
      <p:sp>
        <p:nvSpPr>
          <p:cNvPr id="19" name="TextBox 18"/>
          <p:cNvSpPr txBox="1"/>
          <p:nvPr/>
        </p:nvSpPr>
        <p:spPr>
          <a:xfrm>
            <a:off x="548640" y="5440680"/>
            <a:ext cx="11064240" cy="274320"/>
          </a:xfrm>
          <a:prstGeom prst="rect">
            <a:avLst/>
          </a:prstGeom>
          <a:noFill/>
        </p:spPr>
        <p:txBody>
          <a:bodyPr wrap="square">
            <a:spAutoFit/>
          </a:bodyPr>
          <a:lstStyle/>
          <a:p>
            <a:pPr algn="l"/>
            <a:r>
              <a:rPr sz="1250" b="1">
                <a:solidFill>
                  <a:srgbClr val="1B2A4A"/>
                </a:solidFill>
                <a:latin typeface="Calibri"/>
              </a:rPr>
              <a:t>実際のコード抜粋: scripts/xen-sbom-poc/xen_parsers.py (XSM/FLASK 用パーサーの登録)</a:t>
            </a:r>
          </a:p>
        </p:txBody>
      </p:sp>
      <p:sp>
        <p:nvSpPr>
          <p:cNvPr id="20" name="Rectangle 19"/>
          <p:cNvSpPr/>
          <p:nvPr/>
        </p:nvSpPr>
        <p:spPr>
          <a:xfrm>
            <a:off x="548640" y="5733288"/>
            <a:ext cx="11064240" cy="804672"/>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5806440"/>
            <a:ext cx="10789920" cy="658368"/>
          </a:xfrm>
          <a:prstGeom prst="rect">
            <a:avLst/>
          </a:prstGeom>
          <a:noFill/>
        </p:spPr>
        <p:txBody>
          <a:bodyPr wrap="square">
            <a:spAutoFit/>
          </a:bodyPr>
          <a:lstStyle/>
          <a:p>
            <a:pPr>
              <a:lnSpc>
                <a:spcPct val="115000"/>
              </a:lnSpc>
            </a:pPr>
            <a:r>
              <a:rPr sz="1050">
                <a:solidFill>
                  <a:srgbClr val="C8C8C8"/>
                </a:solidFill>
                <a:latin typeface="Consolas"/>
              </a:rPr>
              <a:t>XEN_COMMAND_PARSERS = [</a:t>
            </a:r>
          </a:p>
          <a:p>
            <a:pPr>
              <a:lnSpc>
                <a:spcPct val="115000"/>
              </a:lnSpc>
            </a:pPr>
            <a:r>
              <a:rPr sz="1050">
                <a:solidFill>
                  <a:srgbClr val="E0B85C"/>
                </a:solidFill>
                <a:latin typeface="Consolas"/>
              </a:rPr>
              <a:t>    (re.compile(r".*xsm/flask/policy/mk(flask|access_vector)\.sh\b"),</a:t>
            </a:r>
          </a:p>
          <a:p>
            <a:pPr>
              <a:lnSpc>
                <a:spcPct val="115000"/>
              </a:lnSpc>
            </a:pPr>
            <a:r>
              <a:rPr sz="1050">
                <a:solidFill>
                  <a:srgbClr val="6AC77A"/>
                </a:solidFill>
                <a:latin typeface="Consolas"/>
              </a:rPr>
              <a:t>     _parse_flask_codegen),   # arm64_defconfig でのみ出現するコマンド</a:t>
            </a:r>
          </a:p>
          <a:p>
            <a:pPr>
              <a:lnSpc>
                <a:spcPct val="115000"/>
              </a:lnSpc>
            </a:pPr>
            <a:r>
              <a:rPr sz="1050">
                <a:solidFill>
                  <a:srgbClr val="C8C8C8"/>
                </a:solidFill>
                <a:latin typeface="Consolas"/>
              </a:rP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RESULTS — x86_64 / arm64</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実績① ハイパーバイザー本体の SBOM 完全化</a:t>
            </a:r>
          </a:p>
        </p:txBody>
      </p:sp>
      <p:sp>
        <p:nvSpPr>
          <p:cNvPr id="6" name="TextBox 5"/>
          <p:cNvSpPr txBox="1"/>
          <p:nvPr/>
        </p:nvSpPr>
        <p:spPr>
          <a:xfrm>
            <a:off x="11247120" y="411480"/>
            <a:ext cx="731520" cy="365760"/>
          </a:xfrm>
          <a:prstGeom prst="rect">
            <a:avLst/>
          </a:prstGeom>
          <a:noFill/>
        </p:spPr>
        <p:txBody>
          <a:bodyPr wrap="square">
            <a:spAutoFit/>
          </a:bodyPr>
          <a:lstStyle/>
          <a:p>
            <a:pPr algn="r"/>
            <a:r>
              <a:rPr sz="1200" b="0">
                <a:solidFill>
                  <a:srgbClr val="BBCCDD"/>
                </a:solidFill>
                <a:latin typeface="Calibri"/>
              </a:rPr>
              <a:t>4/9</a:t>
            </a:r>
          </a:p>
        </p:txBody>
      </p:sp>
      <p:sp>
        <p:nvSpPr>
          <p:cNvPr id="7" name="Rectangle 6"/>
          <p:cNvSpPr/>
          <p:nvPr/>
        </p:nvSpPr>
        <p:spPr>
          <a:xfrm>
            <a:off x="548640" y="1325880"/>
            <a:ext cx="5303520" cy="25146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5303520"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389888"/>
            <a:ext cx="4846320" cy="365760"/>
          </a:xfrm>
          <a:prstGeom prst="rect">
            <a:avLst/>
          </a:prstGeom>
          <a:noFill/>
        </p:spPr>
        <p:txBody>
          <a:bodyPr wrap="square">
            <a:spAutoFit/>
          </a:bodyPr>
          <a:lstStyle/>
          <a:p>
            <a:pPr algn="l"/>
            <a:r>
              <a:rPr sz="1500" b="1">
                <a:solidFill>
                  <a:srgbClr val="FFFFFF"/>
                </a:solidFill>
                <a:latin typeface="Calibri"/>
              </a:rPr>
              <a:t>x86_64_defconfig</a:t>
            </a:r>
          </a:p>
        </p:txBody>
      </p:sp>
      <p:sp>
        <p:nvSpPr>
          <p:cNvPr id="10" name="TextBox 9"/>
          <p:cNvSpPr txBox="1"/>
          <p:nvPr/>
        </p:nvSpPr>
        <p:spPr>
          <a:xfrm>
            <a:off x="822960" y="1874519"/>
            <a:ext cx="4754880" cy="1920240"/>
          </a:xfrm>
          <a:prstGeom prst="rect">
            <a:avLst/>
          </a:prstGeom>
          <a:noFill/>
        </p:spPr>
        <p:txBody>
          <a:bodyPr wrap="square">
            <a:spAutoFit/>
          </a:bodyPr>
          <a:lstStyle/>
          <a:p>
            <a:pPr>
              <a:lnSpc>
                <a:spcPct val="110000"/>
              </a:lnSpc>
              <a:spcAft>
                <a:spcPts val="600"/>
              </a:spcAft>
            </a:pPr>
            <a:r>
              <a:rPr sz="1300" b="0">
                <a:solidFill>
                  <a:srgbClr val="1B2A4A"/>
                </a:solidFill>
                <a:latin typeface="Calibri"/>
              </a:rPr>
              <a:t>■  未知コマンド 0 件、exit 0</a:t>
            </a:r>
          </a:p>
          <a:p>
            <a:pPr>
              <a:lnSpc>
                <a:spcPct val="110000"/>
              </a:lnSpc>
              <a:spcAft>
                <a:spcPts val="600"/>
              </a:spcAft>
            </a:pPr>
            <a:r>
              <a:rPr sz="1300" b="0">
                <a:solidFill>
                  <a:srgbClr val="1B2A4A"/>
                </a:solidFill>
                <a:latin typeface="Calibri"/>
              </a:rPr>
              <a:t>■  公式 SPDX ツールで検証済み(次ページ)</a:t>
            </a:r>
          </a:p>
          <a:p>
            <a:pPr>
              <a:lnSpc>
                <a:spcPct val="110000"/>
              </a:lnSpc>
              <a:spcAft>
                <a:spcPts val="600"/>
              </a:spcAft>
            </a:pPr>
            <a:r>
              <a:rPr sz="1300" b="0">
                <a:solidFill>
                  <a:srgbClr val="1B2A4A"/>
                </a:solidFill>
                <a:latin typeface="Calibri"/>
              </a:rPr>
              <a:t>■  sbom-build.spdx.json: 3,554 要素</a:t>
            </a:r>
          </a:p>
          <a:p>
            <a:pPr>
              <a:lnSpc>
                <a:spcPct val="110000"/>
              </a:lnSpc>
              <a:spcAft>
                <a:spcPts val="600"/>
              </a:spcAft>
            </a:pPr>
            <a:r>
              <a:rPr sz="1300" b="0">
                <a:solidFill>
                  <a:srgbClr val="1B2A4A"/>
                </a:solidFill>
                <a:latin typeface="Calibri"/>
              </a:rPr>
              <a:t>■  (software_File 1,518 件)、約 3.2 MB</a:t>
            </a:r>
          </a:p>
          <a:p>
            <a:pPr>
              <a:lnSpc>
                <a:spcPct val="110000"/>
              </a:lnSpc>
              <a:spcAft>
                <a:spcPts val="600"/>
              </a:spcAft>
            </a:pPr>
            <a:r>
              <a:rPr sz="1300" b="0">
                <a:solidFill>
                  <a:srgbClr val="1B2A4A"/>
                </a:solidFill>
                <a:latin typeface="Calibri"/>
              </a:rPr>
              <a:t>■  sbom-output.spdx.json: 12 要素、24 KB</a:t>
            </a:r>
          </a:p>
          <a:p>
            <a:pPr>
              <a:lnSpc>
                <a:spcPct val="110000"/>
              </a:lnSpc>
              <a:spcAft>
                <a:spcPts val="600"/>
              </a:spcAft>
            </a:pPr>
            <a:r>
              <a:rPr sz="1300" b="0">
                <a:solidFill>
                  <a:srgbClr val="1B2A4A"/>
                </a:solidFill>
                <a:latin typeface="Calibri"/>
              </a:rPr>
              <a:t>■  ユニットテスト 21 件 pass</a:t>
            </a:r>
          </a:p>
        </p:txBody>
      </p:sp>
      <p:sp>
        <p:nvSpPr>
          <p:cNvPr id="11" name="Rectangle 10"/>
          <p:cNvSpPr/>
          <p:nvPr/>
        </p:nvSpPr>
        <p:spPr>
          <a:xfrm>
            <a:off x="6217920" y="1325880"/>
            <a:ext cx="5303520" cy="251460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325880"/>
            <a:ext cx="5303520" cy="45720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389888"/>
            <a:ext cx="4846320" cy="365760"/>
          </a:xfrm>
          <a:prstGeom prst="rect">
            <a:avLst/>
          </a:prstGeom>
          <a:noFill/>
        </p:spPr>
        <p:txBody>
          <a:bodyPr wrap="square">
            <a:spAutoFit/>
          </a:bodyPr>
          <a:lstStyle/>
          <a:p>
            <a:pPr algn="l"/>
            <a:r>
              <a:rPr sz="1500" b="1">
                <a:solidFill>
                  <a:srgbClr val="FFFFFF"/>
                </a:solidFill>
                <a:latin typeface="Calibri"/>
              </a:rPr>
              <a:t>arm64_defconfig (クロスビルド)</a:t>
            </a:r>
          </a:p>
        </p:txBody>
      </p:sp>
      <p:sp>
        <p:nvSpPr>
          <p:cNvPr id="14" name="TextBox 13"/>
          <p:cNvSpPr txBox="1"/>
          <p:nvPr/>
        </p:nvSpPr>
        <p:spPr>
          <a:xfrm>
            <a:off x="6492240" y="1874519"/>
            <a:ext cx="4754880" cy="1920240"/>
          </a:xfrm>
          <a:prstGeom prst="rect">
            <a:avLst/>
          </a:prstGeom>
          <a:noFill/>
        </p:spPr>
        <p:txBody>
          <a:bodyPr wrap="square">
            <a:spAutoFit/>
          </a:bodyPr>
          <a:lstStyle/>
          <a:p>
            <a:pPr>
              <a:lnSpc>
                <a:spcPct val="110000"/>
              </a:lnSpc>
              <a:spcAft>
                <a:spcPts val="600"/>
              </a:spcAft>
            </a:pPr>
            <a:r>
              <a:rPr sz="1300" b="0">
                <a:solidFill>
                  <a:srgbClr val="1B2A4A"/>
                </a:solidFill>
                <a:latin typeface="Calibri"/>
              </a:rPr>
              <a:t>■  aarch64-linux-gnu-gcc でビルド</a:t>
            </a:r>
          </a:p>
          <a:p>
            <a:pPr>
              <a:lnSpc>
                <a:spcPct val="110000"/>
              </a:lnSpc>
              <a:spcAft>
                <a:spcPts val="600"/>
              </a:spcAft>
            </a:pPr>
            <a:r>
              <a:rPr sz="1300" b="0">
                <a:solidFill>
                  <a:srgbClr val="1B2A4A"/>
                </a:solidFill>
                <a:latin typeface="Calibri"/>
              </a:rPr>
              <a:t>■  未知コマンド 0 件、exit 0</a:t>
            </a:r>
          </a:p>
          <a:p>
            <a:pPr>
              <a:lnSpc>
                <a:spcPct val="110000"/>
              </a:lnSpc>
              <a:spcAft>
                <a:spcPts val="600"/>
              </a:spcAft>
            </a:pPr>
            <a:r>
              <a:rPr sz="1300" b="0">
                <a:solidFill>
                  <a:srgbClr val="1B2A4A"/>
                </a:solidFill>
                <a:latin typeface="Calibri"/>
              </a:rPr>
              <a:t>■  sbom-build.spdx.json: 1,961 要素</a:t>
            </a:r>
          </a:p>
          <a:p>
            <a:pPr>
              <a:lnSpc>
                <a:spcPct val="110000"/>
              </a:lnSpc>
              <a:spcAft>
                <a:spcPts val="600"/>
              </a:spcAft>
            </a:pPr>
            <a:r>
              <a:rPr sz="1300" b="0">
                <a:solidFill>
                  <a:srgbClr val="1B2A4A"/>
                </a:solidFill>
                <a:latin typeface="Calibri"/>
              </a:rPr>
              <a:t>■  (software_File 897 件)、約 1.5 MB</a:t>
            </a:r>
          </a:p>
          <a:p>
            <a:pPr>
              <a:lnSpc>
                <a:spcPct val="110000"/>
              </a:lnSpc>
              <a:spcAft>
                <a:spcPts val="600"/>
              </a:spcAft>
            </a:pPr>
            <a:r>
              <a:rPr sz="1300" b="0">
                <a:solidFill>
                  <a:srgbClr val="1B2A4A"/>
                </a:solidFill>
                <a:latin typeface="Calibri"/>
              </a:rPr>
              <a:t>■  sbom-output.spdx.json: 12 要素、24 KB</a:t>
            </a:r>
          </a:p>
        </p:txBody>
      </p:sp>
      <p:sp>
        <p:nvSpPr>
          <p:cNvPr id="15" name="Rectangle 14"/>
          <p:cNvSpPr/>
          <p:nvPr/>
        </p:nvSpPr>
        <p:spPr>
          <a:xfrm>
            <a:off x="548640" y="3977639"/>
            <a:ext cx="11064240" cy="868680"/>
          </a:xfrm>
          <a:prstGeom prst="rect">
            <a:avLst/>
          </a:prstGeom>
          <a:solidFill>
            <a:srgbClr val="FFF3E0"/>
          </a:solidFill>
          <a:ln w="15875">
            <a:solidFill>
              <a:srgbClr val="B2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4041648"/>
            <a:ext cx="10607040" cy="749808"/>
          </a:xfrm>
          <a:prstGeom prst="rect">
            <a:avLst/>
          </a:prstGeom>
          <a:noFill/>
        </p:spPr>
        <p:txBody>
          <a:bodyPr wrap="square">
            <a:spAutoFit/>
          </a:bodyPr>
          <a:lstStyle/>
          <a:p>
            <a:pPr algn="l">
              <a:lnSpc>
                <a:spcPct val="120000"/>
              </a:lnSpc>
            </a:pPr>
            <a:r>
              <a:rPr sz="1200" b="0">
                <a:solidFill>
                  <a:srgbClr val="7A4A00"/>
                </a:solidFill>
                <a:latin typeface="Calibri"/>
              </a:rPr>
              <a:t>補足(コンフィグ依存の不都合): arm64_defconfig は CONFIG_XSM_FLASK を有効化しており、当初は XSM/FLASK ポリシーコード生成 (mkflask.sh / mkaccess_vector.sh) 用のパーサーが1 個不足していた(x86_64_defconfig は同オプションを無効化しているため問題なし)。追加後、上記の通り 0 件を達成(実際のコード抜粋は次ページ)。</a:t>
            </a:r>
          </a:p>
        </p:txBody>
      </p:sp>
      <p:sp>
        <p:nvSpPr>
          <p:cNvPr id="17" name="Rectangle 16"/>
          <p:cNvSpPr/>
          <p:nvPr/>
        </p:nvSpPr>
        <p:spPr>
          <a:xfrm>
            <a:off x="548640" y="4983480"/>
            <a:ext cx="11064240" cy="1417320"/>
          </a:xfrm>
          <a:prstGeom prst="rect">
            <a:avLst/>
          </a:prstGeom>
          <a:solidFill>
            <a:srgbClr val="F4F6F9"/>
          </a:solidFill>
          <a:ln w="15875">
            <a:solidFill>
              <a:srgbClr val="2E86A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1520" y="5074920"/>
            <a:ext cx="10698480" cy="292608"/>
          </a:xfrm>
          <a:prstGeom prst="rect">
            <a:avLst/>
          </a:prstGeom>
          <a:noFill/>
        </p:spPr>
        <p:txBody>
          <a:bodyPr wrap="square">
            <a:spAutoFit/>
          </a:bodyPr>
          <a:lstStyle/>
          <a:p>
            <a:pPr algn="l"/>
            <a:r>
              <a:rPr sz="1350" b="1">
                <a:solidFill>
                  <a:srgbClr val="2E86AB"/>
                </a:solidFill>
                <a:latin typeface="Calibri"/>
              </a:rPr>
              <a:t>用語: 「未知コマンド」とは</a:t>
            </a:r>
          </a:p>
        </p:txBody>
      </p:sp>
      <p:sp>
        <p:nvSpPr>
          <p:cNvPr id="19" name="TextBox 18"/>
          <p:cNvSpPr txBox="1"/>
          <p:nvPr/>
        </p:nvSpPr>
        <p:spPr>
          <a:xfrm>
            <a:off x="731520" y="5385816"/>
            <a:ext cx="10698480" cy="685800"/>
          </a:xfrm>
          <a:prstGeom prst="rect">
            <a:avLst/>
          </a:prstGeom>
          <a:noFill/>
        </p:spPr>
        <p:txBody>
          <a:bodyPr wrap="square">
            <a:spAutoFit/>
          </a:bodyPr>
          <a:lstStyle/>
          <a:p>
            <a:pPr algn="l">
              <a:lnSpc>
                <a:spcPct val="120000"/>
              </a:lnSpc>
            </a:pPr>
            <a:r>
              <a:rPr sz="1150" b="0">
                <a:solidFill>
                  <a:srgbClr val="1B2A4A"/>
                </a:solidFill>
                <a:latin typeface="Calibri"/>
              </a:rPr>
              <a:t>登録済みパーサー(gcc/ld/cp 等のパターン)のどれにもマッチしないビルドコマンドのこと。マッチしないと、そのコマンドが処理した入力ファイルを SBOM に反映できず、依存関係グラフがそこで途切れる(スキップされ警告ログに記録される)。目標はこれを0 件にすること — 上記カードの「未知コマンド 0 件」はこれを指す。</a:t>
            </a:r>
          </a:p>
        </p:txBody>
      </p:sp>
      <p:sp>
        <p:nvSpPr>
          <p:cNvPr id="20" name="TextBox 19"/>
          <p:cNvSpPr txBox="1"/>
          <p:nvPr/>
        </p:nvSpPr>
        <p:spPr>
          <a:xfrm>
            <a:off x="731520" y="6089904"/>
            <a:ext cx="10698480" cy="274320"/>
          </a:xfrm>
          <a:prstGeom prst="rect">
            <a:avLst/>
          </a:prstGeom>
          <a:noFill/>
        </p:spPr>
        <p:txBody>
          <a:bodyPr wrap="square">
            <a:spAutoFit/>
          </a:bodyPr>
          <a:lstStyle/>
          <a:p>
            <a:pPr algn="l"/>
            <a:r>
              <a:rPr sz="1000" b="0">
                <a:solidFill>
                  <a:srgbClr val="555555"/>
                </a:solidFill>
                <a:latin typeface="Calibri"/>
              </a:rPr>
              <a:t>記録: 各実行ログ analysis/*/*.run.log、実際の警告文の例は次ページ</a:t>
            </a:r>
          </a:p>
        </p:txBody>
      </p:sp>
      <p:sp>
        <p:nvSpPr>
          <p:cNvPr id="21" name="TextBox 20"/>
          <p:cNvSpPr txBox="1"/>
          <p:nvPr/>
        </p:nvSpPr>
        <p:spPr>
          <a:xfrm>
            <a:off x="457200" y="6537960"/>
            <a:ext cx="7315200" cy="274320"/>
          </a:xfrm>
          <a:prstGeom prst="rect">
            <a:avLst/>
          </a:prstGeom>
          <a:noFill/>
        </p:spPr>
        <p:txBody>
          <a:bodyPr wrap="square">
            <a:spAutoFit/>
          </a:bodyPr>
          <a:lstStyle/>
          <a:p>
            <a:pPr algn="l"/>
            <a:r>
              <a:rPr sz="1000" b="0">
                <a:solidFill>
                  <a:srgbClr val="555555"/>
                </a:solidFill>
                <a:latin typeface="Calibri"/>
              </a:rPr>
              <a:t>Xen SPDX SBOM Project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EVIDENCE</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実績① 実際のログ・検証結果 (エビデンス)</a:t>
            </a:r>
          </a:p>
        </p:txBody>
      </p:sp>
      <p:sp>
        <p:nvSpPr>
          <p:cNvPr id="6" name="TextBox 5"/>
          <p:cNvSpPr txBox="1"/>
          <p:nvPr/>
        </p:nvSpPr>
        <p:spPr>
          <a:xfrm>
            <a:off x="11247120" y="411480"/>
            <a:ext cx="731520" cy="365760"/>
          </a:xfrm>
          <a:prstGeom prst="rect">
            <a:avLst/>
          </a:prstGeom>
          <a:noFill/>
        </p:spPr>
        <p:txBody>
          <a:bodyPr wrap="square">
            <a:spAutoFit/>
          </a:bodyPr>
          <a:lstStyle/>
          <a:p>
            <a:pPr algn="r"/>
            <a:r>
              <a:rPr sz="1200" b="0">
                <a:solidFill>
                  <a:srgbClr val="BBCCDD"/>
                </a:solidFill>
                <a:latin typeface="Calibri"/>
              </a:rPr>
              <a:t>5/9</a:t>
            </a:r>
          </a:p>
        </p:txBody>
      </p:sp>
      <p:sp>
        <p:nvSpPr>
          <p:cNvPr id="7" name="TextBox 6"/>
          <p:cNvSpPr txBox="1"/>
          <p:nvPr/>
        </p:nvSpPr>
        <p:spPr>
          <a:xfrm>
            <a:off x="548640" y="1280160"/>
            <a:ext cx="11064240" cy="274320"/>
          </a:xfrm>
          <a:prstGeom prst="rect">
            <a:avLst/>
          </a:prstGeom>
          <a:noFill/>
        </p:spPr>
        <p:txBody>
          <a:bodyPr wrap="square">
            <a:spAutoFit/>
          </a:bodyPr>
          <a:lstStyle/>
          <a:p>
            <a:pPr algn="l"/>
            <a:r>
              <a:rPr sz="1250" b="1">
                <a:solidFill>
                  <a:srgbClr val="1B2A4A"/>
                </a:solidFill>
                <a:latin typeface="Calibri"/>
              </a:rPr>
              <a:t>Before: 拡張前(ベースライン PoC)に実際に出ていた「未知コマンド」警告</a:t>
            </a:r>
          </a:p>
        </p:txBody>
      </p:sp>
      <p:sp>
        <p:nvSpPr>
          <p:cNvPr id="8" name="Rectangle 7"/>
          <p:cNvSpPr/>
          <p:nvPr/>
        </p:nvSpPr>
        <p:spPr>
          <a:xfrm>
            <a:off x="548640" y="1572768"/>
            <a:ext cx="11064240" cy="100584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645920"/>
            <a:ext cx="10789920" cy="859536"/>
          </a:xfrm>
          <a:prstGeom prst="rect">
            <a:avLst/>
          </a:prstGeom>
          <a:noFill/>
        </p:spPr>
        <p:txBody>
          <a:bodyPr wrap="square">
            <a:spAutoFit/>
          </a:bodyPr>
          <a:lstStyle/>
          <a:p>
            <a:pPr>
              <a:lnSpc>
                <a:spcPct val="115000"/>
              </a:lnSpc>
            </a:pPr>
            <a:r>
              <a:rPr sz="1050">
                <a:solidFill>
                  <a:srgbClr val="E0B85C"/>
                </a:solidFill>
                <a:latin typeface="Consolas"/>
              </a:rPr>
              <a:t>[WARNING] Skipped parsing command /bin/sh ./xsm/flask/policy/mkflask.sh awk ...</a:t>
            </a:r>
          </a:p>
          <a:p>
            <a:pPr>
              <a:lnSpc>
                <a:spcPct val="115000"/>
              </a:lnSpc>
            </a:pPr>
            <a:r>
              <a:rPr sz="1050">
                <a:solidFill>
                  <a:srgbClr val="E0B85C"/>
                </a:solidFill>
                <a:latin typeface="Consolas"/>
              </a:rPr>
              <a:t>          because no matching parser was found</a:t>
            </a:r>
          </a:p>
          <a:p>
            <a:pPr>
              <a:lnSpc>
                <a:spcPct val="115000"/>
              </a:lnSpc>
            </a:pPr>
            <a:r>
              <a:rPr sz="1050">
                <a:solidFill>
                  <a:srgbClr val="E0B85C"/>
                </a:solidFill>
                <a:latin typeface="Consolas"/>
              </a:rPr>
              <a:t>[WARNING] Skipped parsing command mv -f include/compat/xen.h.new include/compat/xen.h</a:t>
            </a:r>
          </a:p>
          <a:p>
            <a:pPr>
              <a:lnSpc>
                <a:spcPct val="115000"/>
              </a:lnSpc>
            </a:pPr>
            <a:r>
              <a:rPr sz="1050">
                <a:solidFill>
                  <a:srgbClr val="E0B85C"/>
                </a:solidFill>
                <a:latin typeface="Consolas"/>
              </a:rPr>
              <a:t>          because no matching parser was found</a:t>
            </a:r>
          </a:p>
        </p:txBody>
      </p:sp>
      <p:sp>
        <p:nvSpPr>
          <p:cNvPr id="10" name="TextBox 9"/>
          <p:cNvSpPr txBox="1"/>
          <p:nvPr/>
        </p:nvSpPr>
        <p:spPr>
          <a:xfrm>
            <a:off x="548640" y="2596896"/>
            <a:ext cx="11064240" cy="237744"/>
          </a:xfrm>
          <a:prstGeom prst="rect">
            <a:avLst/>
          </a:prstGeom>
          <a:noFill/>
        </p:spPr>
        <p:txBody>
          <a:bodyPr wrap="square">
            <a:spAutoFit/>
          </a:bodyPr>
          <a:lstStyle/>
          <a:p>
            <a:pPr algn="l"/>
            <a:r>
              <a:rPr sz="900" b="0">
                <a:solidFill>
                  <a:srgbClr val="555555"/>
                </a:solidFill>
                <a:latin typeface="Calibri"/>
              </a:rPr>
              <a:t>出典: analysis/xen-poc/xen-poc.run.log</a:t>
            </a:r>
          </a:p>
        </p:txBody>
      </p:sp>
      <p:sp>
        <p:nvSpPr>
          <p:cNvPr id="11" name="TextBox 10"/>
          <p:cNvSpPr txBox="1"/>
          <p:nvPr/>
        </p:nvSpPr>
        <p:spPr>
          <a:xfrm>
            <a:off x="548640" y="3063240"/>
            <a:ext cx="11064240" cy="274320"/>
          </a:xfrm>
          <a:prstGeom prst="rect">
            <a:avLst/>
          </a:prstGeom>
          <a:noFill/>
        </p:spPr>
        <p:txBody>
          <a:bodyPr wrap="square">
            <a:spAutoFit/>
          </a:bodyPr>
          <a:lstStyle/>
          <a:p>
            <a:pPr algn="l"/>
            <a:r>
              <a:rPr sz="1250" b="1">
                <a:solidFill>
                  <a:srgbClr val="1B2A4A"/>
                </a:solidFill>
                <a:latin typeface="Calibri"/>
              </a:rPr>
              <a:t>After: Xen 拡張を適用した完全版の実行ログには、上記のような警告が 1 件も現れない</a:t>
            </a:r>
          </a:p>
        </p:txBody>
      </p:sp>
      <p:sp>
        <p:nvSpPr>
          <p:cNvPr id="12" name="Rectangle 11"/>
          <p:cNvSpPr/>
          <p:nvPr/>
        </p:nvSpPr>
        <p:spPr>
          <a:xfrm>
            <a:off x="548640" y="3355848"/>
            <a:ext cx="11064240" cy="36576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429000"/>
            <a:ext cx="10789920" cy="219456"/>
          </a:xfrm>
          <a:prstGeom prst="rect">
            <a:avLst/>
          </a:prstGeom>
          <a:noFill/>
        </p:spPr>
        <p:txBody>
          <a:bodyPr wrap="square">
            <a:spAutoFit/>
          </a:bodyPr>
          <a:lstStyle/>
          <a:p>
            <a:pPr>
              <a:lnSpc>
                <a:spcPct val="115000"/>
              </a:lnSpc>
            </a:pPr>
            <a:r>
              <a:rPr sz="1050">
                <a:solidFill>
                  <a:srgbClr val="C8C8C8"/>
                </a:solidFill>
                <a:latin typeface="Consolas"/>
              </a:rPr>
              <a:t>$ grep -c 'no matching parser was found' analysis/xen-full/xen-full.run.log</a:t>
            </a:r>
          </a:p>
          <a:p>
            <a:pPr>
              <a:lnSpc>
                <a:spcPct val="115000"/>
              </a:lnSpc>
            </a:pPr>
            <a:r>
              <a:rPr sz="1050">
                <a:solidFill>
                  <a:srgbClr val="6AC77A"/>
                </a:solidFill>
                <a:latin typeface="Consolas"/>
              </a:rPr>
              <a:t>0</a:t>
            </a:r>
          </a:p>
        </p:txBody>
      </p:sp>
      <p:sp>
        <p:nvSpPr>
          <p:cNvPr id="14" name="TextBox 13"/>
          <p:cNvSpPr txBox="1"/>
          <p:nvPr/>
        </p:nvSpPr>
        <p:spPr>
          <a:xfrm>
            <a:off x="548640" y="3739896"/>
            <a:ext cx="11064240" cy="237744"/>
          </a:xfrm>
          <a:prstGeom prst="rect">
            <a:avLst/>
          </a:prstGeom>
          <a:noFill/>
        </p:spPr>
        <p:txBody>
          <a:bodyPr wrap="square">
            <a:spAutoFit/>
          </a:bodyPr>
          <a:lstStyle/>
          <a:p>
            <a:pPr algn="l"/>
            <a:r>
              <a:rPr sz="900" b="0">
                <a:solidFill>
                  <a:srgbClr val="555555"/>
                </a:solidFill>
                <a:latin typeface="Calibri"/>
              </a:rPr>
              <a:t>出典: analysis/xen-full/xen-full.run.log</a:t>
            </a:r>
          </a:p>
        </p:txBody>
      </p:sp>
      <p:sp>
        <p:nvSpPr>
          <p:cNvPr id="15" name="TextBox 14"/>
          <p:cNvSpPr txBox="1"/>
          <p:nvPr/>
        </p:nvSpPr>
        <p:spPr>
          <a:xfrm>
            <a:off x="548640" y="4206240"/>
            <a:ext cx="11064240" cy="274320"/>
          </a:xfrm>
          <a:prstGeom prst="rect">
            <a:avLst/>
          </a:prstGeom>
          <a:noFill/>
        </p:spPr>
        <p:txBody>
          <a:bodyPr wrap="square">
            <a:spAutoFit/>
          </a:bodyPr>
          <a:lstStyle/>
          <a:p>
            <a:pPr algn="l"/>
            <a:r>
              <a:rPr sz="1250" b="1">
                <a:solidFill>
                  <a:srgbClr val="1B2A4A"/>
                </a:solidFill>
                <a:latin typeface="Calibri"/>
              </a:rPr>
              <a:t>検証ツール(pyshacl)の実際の出力</a:t>
            </a:r>
          </a:p>
        </p:txBody>
      </p:sp>
      <p:sp>
        <p:nvSpPr>
          <p:cNvPr id="16" name="Rectangle 15"/>
          <p:cNvSpPr/>
          <p:nvPr/>
        </p:nvSpPr>
        <p:spPr>
          <a:xfrm>
            <a:off x="548640" y="4498848"/>
            <a:ext cx="11064240" cy="68580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572000"/>
            <a:ext cx="10789920" cy="539496"/>
          </a:xfrm>
          <a:prstGeom prst="rect">
            <a:avLst/>
          </a:prstGeom>
          <a:noFill/>
        </p:spPr>
        <p:txBody>
          <a:bodyPr wrap="square">
            <a:spAutoFit/>
          </a:bodyPr>
          <a:lstStyle/>
          <a:p>
            <a:pPr>
              <a:lnSpc>
                <a:spcPct val="115000"/>
              </a:lnSpc>
            </a:pPr>
            <a:r>
              <a:rPr sz="1050">
                <a:solidFill>
                  <a:srgbClr val="C8C8C8"/>
                </a:solidFill>
                <a:latin typeface="Consolas"/>
              </a:rPr>
              <a:t>== Semantic validation (SHACL) ==</a:t>
            </a:r>
          </a:p>
          <a:p>
            <a:pPr>
              <a:lnSpc>
                <a:spcPct val="115000"/>
              </a:lnSpc>
            </a:pPr>
            <a:r>
              <a:rPr sz="1050">
                <a:solidFill>
                  <a:srgbClr val="C8C8C8"/>
                </a:solidFill>
                <a:latin typeface="Consolas"/>
              </a:rPr>
              <a:t>-- merged graph of: sbom-build.spdx.json sbom-output.spdx.json --</a:t>
            </a:r>
          </a:p>
          <a:p>
            <a:pPr>
              <a:lnSpc>
                <a:spcPct val="115000"/>
              </a:lnSpc>
            </a:pPr>
            <a:r>
              <a:rPr sz="1050">
                <a:solidFill>
                  <a:srgbClr val="C8C8C8"/>
                </a:solidFill>
                <a:latin typeface="Consolas"/>
              </a:rPr>
              <a:t>Validation Report</a:t>
            </a:r>
          </a:p>
          <a:p>
            <a:pPr>
              <a:lnSpc>
                <a:spcPct val="115000"/>
              </a:lnSpc>
            </a:pPr>
            <a:r>
              <a:rPr sz="1050">
                <a:solidFill>
                  <a:srgbClr val="6AC77A"/>
                </a:solidFill>
                <a:latin typeface="Consolas"/>
              </a:rPr>
              <a:t>Conforms: True</a:t>
            </a:r>
          </a:p>
        </p:txBody>
      </p:sp>
      <p:sp>
        <p:nvSpPr>
          <p:cNvPr id="18" name="TextBox 17"/>
          <p:cNvSpPr txBox="1"/>
          <p:nvPr/>
        </p:nvSpPr>
        <p:spPr>
          <a:xfrm>
            <a:off x="548640" y="5202936"/>
            <a:ext cx="11064240" cy="237744"/>
          </a:xfrm>
          <a:prstGeom prst="rect">
            <a:avLst/>
          </a:prstGeom>
          <a:noFill/>
        </p:spPr>
        <p:txBody>
          <a:bodyPr wrap="square">
            <a:spAutoFit/>
          </a:bodyPr>
          <a:lstStyle/>
          <a:p>
            <a:pPr algn="l"/>
            <a:r>
              <a:rPr sz="900" b="0">
                <a:solidFill>
                  <a:srgbClr val="555555"/>
                </a:solidFill>
                <a:latin typeface="Calibri"/>
              </a:rPr>
              <a:t>出典: analysis/validate-spdx-20260806.log</a:t>
            </a:r>
          </a:p>
        </p:txBody>
      </p:sp>
      <p:sp>
        <p:nvSpPr>
          <p:cNvPr id="19" name="TextBox 18"/>
          <p:cNvSpPr txBox="1"/>
          <p:nvPr/>
        </p:nvSpPr>
        <p:spPr>
          <a:xfrm>
            <a:off x="548640" y="5623560"/>
            <a:ext cx="11064240" cy="777240"/>
          </a:xfrm>
          <a:prstGeom prst="rect">
            <a:avLst/>
          </a:prstGeom>
          <a:noFill/>
        </p:spPr>
        <p:txBody>
          <a:bodyPr wrap="square">
            <a:spAutoFit/>
          </a:bodyPr>
          <a:lstStyle/>
          <a:p>
            <a:pPr algn="l">
              <a:lnSpc>
                <a:spcPct val="120000"/>
              </a:lnSpc>
            </a:pPr>
            <a:r>
              <a:rPr sz="1200" b="0">
                <a:solidFill>
                  <a:srgbClr val="555555"/>
                </a:solidFill>
                <a:latin typeface="Calibri"/>
              </a:rPr>
              <a:t>注: SPDX 3.0.1 の可視化ツール(spdx3_viewer 等)は本プロジェクトではまだ使用していない。必要であれば次のステップとして検証・導入を検討する。</a:t>
            </a:r>
          </a:p>
        </p:txBody>
      </p:sp>
      <p:sp>
        <p:nvSpPr>
          <p:cNvPr id="20" name="TextBox 19"/>
          <p:cNvSpPr txBox="1"/>
          <p:nvPr/>
        </p:nvSpPr>
        <p:spPr>
          <a:xfrm>
            <a:off x="457200" y="6537960"/>
            <a:ext cx="7315200" cy="274320"/>
          </a:xfrm>
          <a:prstGeom prst="rect">
            <a:avLst/>
          </a:prstGeom>
          <a:noFill/>
        </p:spPr>
        <p:txBody>
          <a:bodyPr wrap="square">
            <a:spAutoFit/>
          </a:bodyPr>
          <a:lstStyle/>
          <a:p>
            <a:pPr algn="l"/>
            <a:r>
              <a:rPr sz="1000" b="0">
                <a:solidFill>
                  <a:srgbClr val="555555"/>
                </a:solidFill>
                <a:latin typeface="Calibri"/>
              </a:rPr>
              <a:t>Xen SPDX SBOM Project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RESULTS — Traceability</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実績② SBOM トレーサビリティ照会ツール(新規開発)</a:t>
            </a:r>
          </a:p>
        </p:txBody>
      </p:sp>
      <p:sp>
        <p:nvSpPr>
          <p:cNvPr id="6" name="TextBox 5"/>
          <p:cNvSpPr txBox="1"/>
          <p:nvPr/>
        </p:nvSpPr>
        <p:spPr>
          <a:xfrm>
            <a:off x="11247120" y="411480"/>
            <a:ext cx="731520" cy="365760"/>
          </a:xfrm>
          <a:prstGeom prst="rect">
            <a:avLst/>
          </a:prstGeom>
          <a:noFill/>
        </p:spPr>
        <p:txBody>
          <a:bodyPr wrap="square">
            <a:spAutoFit/>
          </a:bodyPr>
          <a:lstStyle/>
          <a:p>
            <a:pPr algn="r"/>
            <a:r>
              <a:rPr sz="1200" b="0">
                <a:solidFill>
                  <a:srgbClr val="BBCCDD"/>
                </a:solidFill>
                <a:latin typeface="Calibri"/>
              </a:rPr>
              <a:t>6/9</a:t>
            </a:r>
          </a:p>
        </p:txBody>
      </p:sp>
      <p:sp>
        <p:nvSpPr>
          <p:cNvPr id="7" name="Rectangle 6"/>
          <p:cNvSpPr/>
          <p:nvPr/>
        </p:nvSpPr>
        <p:spPr>
          <a:xfrm>
            <a:off x="548640" y="1280160"/>
            <a:ext cx="11064240" cy="685800"/>
          </a:xfrm>
          <a:prstGeom prst="rect">
            <a:avLst/>
          </a:prstGeom>
          <a:solidFill>
            <a:srgbClr val="FFF3E0"/>
          </a:solidFill>
          <a:ln w="15875">
            <a:solidFill>
              <a:srgbClr val="B26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344168"/>
            <a:ext cx="10607040" cy="566928"/>
          </a:xfrm>
          <a:prstGeom prst="rect">
            <a:avLst/>
          </a:prstGeom>
          <a:noFill/>
        </p:spPr>
        <p:txBody>
          <a:bodyPr wrap="square">
            <a:spAutoFit/>
          </a:bodyPr>
          <a:lstStyle/>
          <a:p>
            <a:pPr algn="l">
              <a:lnSpc>
                <a:spcPct val="120000"/>
              </a:lnSpc>
            </a:pPr>
            <a:r>
              <a:rPr sz="1300" b="1">
                <a:solidFill>
                  <a:srgbClr val="7A4A00"/>
                </a:solidFill>
                <a:latin typeface="Calibri"/>
              </a:rPr>
              <a:t>KernelSbom(上流)の機能ではなく、本プロジェクトが新規開発したツール(query_traceability.py)。生成済みの SPDX JSON-LD を読むだけで SBOM 自体は変更しない。</a:t>
            </a:r>
          </a:p>
        </p:txBody>
      </p:sp>
      <p:sp>
        <p:nvSpPr>
          <p:cNvPr id="9" name="Rectangle 8"/>
          <p:cNvSpPr/>
          <p:nvPr/>
        </p:nvSpPr>
        <p:spPr>
          <a:xfrm>
            <a:off x="548640" y="2148840"/>
            <a:ext cx="1920240" cy="105156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148840"/>
            <a:ext cx="1920240" cy="1051560"/>
          </a:xfrm>
          <a:prstGeom prst="rect">
            <a:avLst/>
          </a:prstGeom>
          <a:noFill/>
        </p:spPr>
        <p:txBody>
          <a:bodyPr wrap="square" anchor="ctr">
            <a:spAutoFit/>
          </a:bodyPr>
          <a:lstStyle/>
          <a:p>
            <a:pPr algn="ctr"/>
            <a:r>
              <a:rPr sz="1300" b="1">
                <a:solidFill>
                  <a:srgbClr val="FFFFFF"/>
                </a:solidFill>
                <a:latin typeface="Calibri"/>
              </a:rPr>
              <a:t>必要性</a:t>
            </a:r>
          </a:p>
        </p:txBody>
      </p:sp>
      <p:sp>
        <p:nvSpPr>
          <p:cNvPr id="11" name="TextBox 10"/>
          <p:cNvSpPr txBox="1"/>
          <p:nvPr/>
        </p:nvSpPr>
        <p:spPr>
          <a:xfrm>
            <a:off x="2606040" y="2148840"/>
            <a:ext cx="9006840" cy="1051560"/>
          </a:xfrm>
          <a:prstGeom prst="rect">
            <a:avLst/>
          </a:prstGeom>
          <a:noFill/>
        </p:spPr>
        <p:txBody>
          <a:bodyPr wrap="square" anchor="ctr">
            <a:spAutoFit/>
          </a:bodyPr>
          <a:lstStyle/>
          <a:p>
            <a:pPr algn="l">
              <a:lnSpc>
                <a:spcPct val="125000"/>
              </a:lnSpc>
            </a:pPr>
            <a:r>
              <a:rPr sz="1450" b="0">
                <a:solidFill>
                  <a:srgbClr val="1B2A4A"/>
                </a:solidFill>
                <a:latin typeface="Calibri"/>
              </a:rPr>
              <a:t>SBOM を生成しただけでは、「あるソースファイルを変更したら、どの成果物・パッケージに影響するか」という FuSa の変更管理プロセスが必要とする問いに答える手段が無かった。</a:t>
            </a:r>
          </a:p>
        </p:txBody>
      </p:sp>
      <p:sp>
        <p:nvSpPr>
          <p:cNvPr id="12" name="Rectangle 11"/>
          <p:cNvSpPr/>
          <p:nvPr/>
        </p:nvSpPr>
        <p:spPr>
          <a:xfrm>
            <a:off x="548640" y="3337560"/>
            <a:ext cx="1920240" cy="1051560"/>
          </a:xfrm>
          <a:prstGeom prst="rect">
            <a:avLst/>
          </a:prstGeom>
          <a:solidFill>
            <a:srgbClr val="B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337560"/>
            <a:ext cx="1920240" cy="1051560"/>
          </a:xfrm>
          <a:prstGeom prst="rect">
            <a:avLst/>
          </a:prstGeom>
          <a:noFill/>
        </p:spPr>
        <p:txBody>
          <a:bodyPr wrap="square" anchor="ctr">
            <a:spAutoFit/>
          </a:bodyPr>
          <a:lstStyle/>
          <a:p>
            <a:pPr algn="ctr"/>
            <a:r>
              <a:rPr sz="1300" b="1">
                <a:solidFill>
                  <a:srgbClr val="FFFFFF"/>
                </a:solidFill>
                <a:latin typeface="Calibri"/>
              </a:rPr>
              <a:t>重要性</a:t>
            </a:r>
          </a:p>
        </p:txBody>
      </p:sp>
      <p:sp>
        <p:nvSpPr>
          <p:cNvPr id="14" name="TextBox 13"/>
          <p:cNvSpPr txBox="1"/>
          <p:nvPr/>
        </p:nvSpPr>
        <p:spPr>
          <a:xfrm>
            <a:off x="2606040" y="3337560"/>
            <a:ext cx="9006840" cy="1051560"/>
          </a:xfrm>
          <a:prstGeom prst="rect">
            <a:avLst/>
          </a:prstGeom>
          <a:noFill/>
        </p:spPr>
        <p:txBody>
          <a:bodyPr wrap="square" anchor="ctr">
            <a:spAutoFit/>
          </a:bodyPr>
          <a:lstStyle/>
          <a:p>
            <a:pPr algn="l">
              <a:lnSpc>
                <a:spcPct val="125000"/>
              </a:lnSpc>
            </a:pPr>
            <a:r>
              <a:rPr sz="1450" b="0">
                <a:solidFill>
                  <a:srgbClr val="1B2A4A"/>
                </a:solidFill>
                <a:latin typeface="Calibri"/>
              </a:rPr>
              <a:t>影響範囲の見落とし(偽陰性)は安全上のリスクに直結する。そのため「影響なし」と「SBOM の対象外(カバレッジ外)」を明確に区別する設計とし、あいまいな結果を返さない。</a:t>
            </a:r>
          </a:p>
        </p:txBody>
      </p:sp>
      <p:sp>
        <p:nvSpPr>
          <p:cNvPr id="15" name="Rectangle 14"/>
          <p:cNvSpPr/>
          <p:nvPr/>
        </p:nvSpPr>
        <p:spPr>
          <a:xfrm>
            <a:off x="548640" y="4526280"/>
            <a:ext cx="1920240"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4526280"/>
            <a:ext cx="1920240" cy="1051560"/>
          </a:xfrm>
          <a:prstGeom prst="rect">
            <a:avLst/>
          </a:prstGeom>
          <a:noFill/>
        </p:spPr>
        <p:txBody>
          <a:bodyPr wrap="square" anchor="ctr">
            <a:spAutoFit/>
          </a:bodyPr>
          <a:lstStyle/>
          <a:p>
            <a:pPr algn="ctr"/>
            <a:r>
              <a:rPr sz="1300" b="1">
                <a:solidFill>
                  <a:srgbClr val="FFFFFF"/>
                </a:solidFill>
                <a:latin typeface="Calibri"/>
              </a:rPr>
              <a:t>効果(実証結果)</a:t>
            </a:r>
          </a:p>
        </p:txBody>
      </p:sp>
      <p:sp>
        <p:nvSpPr>
          <p:cNvPr id="17" name="TextBox 16"/>
          <p:cNvSpPr txBox="1"/>
          <p:nvPr/>
        </p:nvSpPr>
        <p:spPr>
          <a:xfrm>
            <a:off x="2606040" y="4526280"/>
            <a:ext cx="9006840" cy="1051560"/>
          </a:xfrm>
          <a:prstGeom prst="rect">
            <a:avLst/>
          </a:prstGeom>
          <a:noFill/>
        </p:spPr>
        <p:txBody>
          <a:bodyPr wrap="square" anchor="ctr">
            <a:spAutoFit/>
          </a:bodyPr>
          <a:lstStyle/>
          <a:p>
            <a:pPr algn="l">
              <a:lnSpc>
                <a:spcPct val="125000"/>
              </a:lnSpc>
            </a:pPr>
            <a:r>
              <a:rPr sz="1450" b="0">
                <a:solidFill>
                  <a:srgbClr val="1B2A4A"/>
                </a:solidFill>
                <a:latin typeface="Calibri"/>
              </a:rPr>
              <a:t>ソース→成果物(downstream)・成果物→ソース(upstream)の両方向を照会可能。arm64 の実 SBOM(897 ファイル)に対しても正しく動作し、ユニットテスト 11 件が全て pass。</a:t>
            </a:r>
          </a:p>
        </p:txBody>
      </p:sp>
      <p:sp>
        <p:nvSpPr>
          <p:cNvPr id="18" name="TextBox 17"/>
          <p:cNvSpPr txBox="1"/>
          <p:nvPr/>
        </p:nvSpPr>
        <p:spPr>
          <a:xfrm>
            <a:off x="548640" y="5806440"/>
            <a:ext cx="11064240" cy="457200"/>
          </a:xfrm>
          <a:prstGeom prst="rect">
            <a:avLst/>
          </a:prstGeom>
          <a:noFill/>
        </p:spPr>
        <p:txBody>
          <a:bodyPr wrap="square">
            <a:spAutoFit/>
          </a:bodyPr>
          <a:lstStyle/>
          <a:p>
            <a:pPr algn="l"/>
            <a:r>
              <a:rPr sz="1400" b="1">
                <a:solidFill>
                  <a:srgbClr val="2E86AB"/>
                </a:solidFill>
                <a:latin typeface="Calibri"/>
              </a:rPr>
              <a:t>「この .c ファイルを変更したら SBOM 上の何が影響を受けるか」に、実運用レベルで答えられる。</a:t>
            </a:r>
          </a:p>
        </p:txBody>
      </p:sp>
      <p:sp>
        <p:nvSpPr>
          <p:cNvPr id="19" name="TextBox 18"/>
          <p:cNvSpPr txBox="1"/>
          <p:nvPr/>
        </p:nvSpPr>
        <p:spPr>
          <a:xfrm>
            <a:off x="457200" y="6537960"/>
            <a:ext cx="7315200" cy="274320"/>
          </a:xfrm>
          <a:prstGeom prst="rect">
            <a:avLst/>
          </a:prstGeom>
          <a:noFill/>
        </p:spPr>
        <p:txBody>
          <a:bodyPr wrap="square">
            <a:spAutoFit/>
          </a:bodyPr>
          <a:lstStyle/>
          <a:p>
            <a:pPr algn="l"/>
            <a:r>
              <a:rPr sz="1000" b="0">
                <a:solidFill>
                  <a:srgbClr val="555555"/>
                </a:solidFill>
                <a:latin typeface="Calibri"/>
              </a:rPr>
              <a:t>Xen SPDX SBOM Project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STATUS</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完了 / 未完了 一覧</a:t>
            </a:r>
          </a:p>
        </p:txBody>
      </p:sp>
      <p:sp>
        <p:nvSpPr>
          <p:cNvPr id="6" name="TextBox 5"/>
          <p:cNvSpPr txBox="1"/>
          <p:nvPr/>
        </p:nvSpPr>
        <p:spPr>
          <a:xfrm>
            <a:off x="11247120" y="411480"/>
            <a:ext cx="731520" cy="365760"/>
          </a:xfrm>
          <a:prstGeom prst="rect">
            <a:avLst/>
          </a:prstGeom>
          <a:noFill/>
        </p:spPr>
        <p:txBody>
          <a:bodyPr wrap="square">
            <a:spAutoFit/>
          </a:bodyPr>
          <a:lstStyle/>
          <a:p>
            <a:pPr algn="r"/>
            <a:r>
              <a:rPr sz="1200" b="0">
                <a:solidFill>
                  <a:srgbClr val="BBCCDD"/>
                </a:solidFill>
                <a:latin typeface="Calibri"/>
              </a:rPr>
              <a:t>7/9</a:t>
            </a:r>
          </a:p>
        </p:txBody>
      </p:sp>
      <p:graphicFrame>
        <p:nvGraphicFramePr>
          <p:cNvPr id="7" name="Table 6"/>
          <p:cNvGraphicFramePr>
            <a:graphicFrameLocks noGrp="1"/>
          </p:cNvGraphicFramePr>
          <p:nvPr/>
        </p:nvGraphicFramePr>
        <p:xfrm>
          <a:off x="548640" y="1371600"/>
          <a:ext cx="11064240" cy="2834640"/>
        </p:xfrm>
        <a:graphic>
          <a:graphicData uri="http://schemas.openxmlformats.org/drawingml/2006/table">
            <a:tbl>
              <a:tblPr firstRow="1" bandRow="1">
                <a:tableStyleId>{5C22544A-7EE6-4342-B048-85BDC9FD1C3A}</a:tableStyleId>
              </a:tblPr>
              <a:tblGrid>
                <a:gridCol w="1463040"/>
                <a:gridCol w="7772400"/>
                <a:gridCol w="1828800"/>
              </a:tblGrid>
              <a:tr h="404948">
                <a:tc>
                  <a:txBody>
                    <a:bodyPr/>
                    <a:lstStyle/>
                    <a:p>
                      <a:r>
                        <a:rPr b="1" sz="1400">
                          <a:solidFill>
                            <a:srgbClr val="FFFFFF"/>
                          </a:solidFill>
                        </a:rPr>
                        <a:t>ID</a:t>
                      </a:r>
                    </a:p>
                  </a:txBody>
                  <a:tcPr>
                    <a:solidFill>
                      <a:srgbClr val="1B2A4A"/>
                    </a:solidFill>
                  </a:tcPr>
                </a:tc>
                <a:tc>
                  <a:txBody>
                    <a:bodyPr/>
                    <a:lstStyle/>
                    <a:p>
                      <a:r>
                        <a:rPr b="1" sz="1400">
                          <a:solidFill>
                            <a:srgbClr val="FFFFFF"/>
                          </a:solidFill>
                        </a:rPr>
                        <a:t>内容</a:t>
                      </a:r>
                    </a:p>
                  </a:txBody>
                  <a:tcPr>
                    <a:solidFill>
                      <a:srgbClr val="1B2A4A"/>
                    </a:solidFill>
                  </a:tcPr>
                </a:tc>
                <a:tc>
                  <a:txBody>
                    <a:bodyPr/>
                    <a:lstStyle/>
                    <a:p>
                      <a:r>
                        <a:rPr b="1" sz="1400">
                          <a:solidFill>
                            <a:srgbClr val="FFFFFF"/>
                          </a:solidFill>
                        </a:rPr>
                        <a:t>状態</a:t>
                      </a:r>
                    </a:p>
                  </a:txBody>
                  <a:tcPr>
                    <a:solidFill>
                      <a:srgbClr val="1B2A4A"/>
                    </a:solidFill>
                  </a:tcPr>
                </a:tc>
              </a:tr>
              <a:tr h="404948">
                <a:tc>
                  <a:txBody>
                    <a:bodyPr/>
                    <a:lstStyle/>
                    <a:p>
                      <a:pPr algn="ctr"/>
                      <a:r>
                        <a:rPr sz="1300" b="0">
                          <a:solidFill>
                            <a:srgbClr val="1B2A4A"/>
                          </a:solidFill>
                        </a:rPr>
                        <a:t>Phase A</a:t>
                      </a:r>
                    </a:p>
                  </a:txBody>
                  <a:tcPr>
                    <a:solidFill>
                      <a:srgbClr val="FFFFFF"/>
                    </a:solidFill>
                  </a:tcPr>
                </a:tc>
                <a:tc>
                  <a:txBody>
                    <a:bodyPr/>
                    <a:lstStyle/>
                    <a:p>
                      <a:pPr algn="l"/>
                      <a:r>
                        <a:rPr sz="1300" b="0">
                          <a:solidFill>
                            <a:srgbClr val="1B2A4A"/>
                          </a:solidFill>
                        </a:rPr>
                        <a:t>Linux ツール文書化・再現、Xen ビルド解析、設計+PoC</a:t>
                      </a:r>
                    </a:p>
                  </a:txBody>
                  <a:tcPr>
                    <a:solidFill>
                      <a:srgbClr val="FFFFFF"/>
                    </a:solidFill>
                  </a:tcPr>
                </a:tc>
                <a:tc>
                  <a:txBody>
                    <a:bodyPr/>
                    <a:lstStyle/>
                    <a:p>
                      <a:pPr algn="ctr"/>
                      <a:r>
                        <a:rPr sz="1300" b="1">
                          <a:solidFill>
                            <a:srgbClr val="2E7D32"/>
                          </a:solidFill>
                        </a:rPr>
                        <a:t>完了</a:t>
                      </a:r>
                    </a:p>
                  </a:txBody>
                  <a:tcPr>
                    <a:solidFill>
                      <a:srgbClr val="FFFFFF"/>
                    </a:solidFill>
                  </a:tcPr>
                </a:tc>
              </a:tr>
              <a:tr h="404948">
                <a:tc>
                  <a:txBody>
                    <a:bodyPr/>
                    <a:lstStyle/>
                    <a:p>
                      <a:pPr algn="ctr"/>
                      <a:r>
                        <a:rPr sz="1300" b="0">
                          <a:solidFill>
                            <a:srgbClr val="1B2A4A"/>
                          </a:solidFill>
                        </a:rPr>
                        <a:t>Phase B</a:t>
                      </a:r>
                    </a:p>
                  </a:txBody>
                  <a:tcPr>
                    <a:solidFill>
                      <a:srgbClr val="F4F6F9"/>
                    </a:solidFill>
                  </a:tcPr>
                </a:tc>
                <a:tc>
                  <a:txBody>
                    <a:bodyPr/>
                    <a:lstStyle/>
                    <a:p>
                      <a:pPr algn="l"/>
                      <a:r>
                        <a:rPr sz="1300" b="0">
                          <a:solidFill>
                            <a:srgbClr val="1B2A4A"/>
                          </a:solidFill>
                        </a:rPr>
                        <a:t>ハイパーバイザー SBOM 完全化 (x86_64 / arm64)</a:t>
                      </a:r>
                    </a:p>
                  </a:txBody>
                  <a:tcPr>
                    <a:solidFill>
                      <a:srgbClr val="F4F6F9"/>
                    </a:solidFill>
                  </a:tcPr>
                </a:tc>
                <a:tc>
                  <a:txBody>
                    <a:bodyPr/>
                    <a:lstStyle/>
                    <a:p>
                      <a:pPr algn="ctr"/>
                      <a:r>
                        <a:rPr sz="1300" b="1">
                          <a:solidFill>
                            <a:srgbClr val="2E7D32"/>
                          </a:solidFill>
                        </a:rPr>
                        <a:t>完了</a:t>
                      </a:r>
                    </a:p>
                  </a:txBody>
                  <a:tcPr>
                    <a:solidFill>
                      <a:srgbClr val="F4F6F9"/>
                    </a:solidFill>
                  </a:tcPr>
                </a:tc>
              </a:tr>
              <a:tr h="404948">
                <a:tc>
                  <a:txBody>
                    <a:bodyPr/>
                    <a:lstStyle/>
                    <a:p>
                      <a:pPr algn="ctr"/>
                      <a:r>
                        <a:rPr sz="1300" b="0">
                          <a:solidFill>
                            <a:srgbClr val="1B2A4A"/>
                          </a:solidFill>
                        </a:rPr>
                        <a:t>B-1</a:t>
                      </a:r>
                    </a:p>
                  </a:txBody>
                  <a:tcPr>
                    <a:solidFill>
                      <a:srgbClr val="FFFFFF"/>
                    </a:solidFill>
                  </a:tcPr>
                </a:tc>
                <a:tc>
                  <a:txBody>
                    <a:bodyPr/>
                    <a:lstStyle/>
                    <a:p>
                      <a:pPr algn="l"/>
                      <a:r>
                        <a:rPr sz="1300" b="0">
                          <a:solidFill>
                            <a:srgbClr val="1B2A4A"/>
                          </a:solidFill>
                        </a:rPr>
                        <a:t>生成 SBOM の外部バリデータ検証</a:t>
                      </a:r>
                    </a:p>
                  </a:txBody>
                  <a:tcPr>
                    <a:solidFill>
                      <a:srgbClr val="FFFFFF"/>
                    </a:solidFill>
                  </a:tcPr>
                </a:tc>
                <a:tc>
                  <a:txBody>
                    <a:bodyPr/>
                    <a:lstStyle/>
                    <a:p>
                      <a:pPr algn="ctr"/>
                      <a:r>
                        <a:rPr sz="1300" b="1">
                          <a:solidFill>
                            <a:srgbClr val="2E7D32"/>
                          </a:solidFill>
                        </a:rPr>
                        <a:t>完了</a:t>
                      </a:r>
                    </a:p>
                  </a:txBody>
                  <a:tcPr>
                    <a:solidFill>
                      <a:srgbClr val="FFFFFF"/>
                    </a:solidFill>
                  </a:tcPr>
                </a:tc>
              </a:tr>
              <a:tr h="404948">
                <a:tc>
                  <a:txBody>
                    <a:bodyPr/>
                    <a:lstStyle/>
                    <a:p>
                      <a:pPr algn="ctr"/>
                      <a:r>
                        <a:rPr sz="1300" b="0">
                          <a:solidFill>
                            <a:srgbClr val="1B2A4A"/>
                          </a:solidFill>
                        </a:rPr>
                        <a:t>B-6</a:t>
                      </a:r>
                    </a:p>
                  </a:txBody>
                  <a:tcPr>
                    <a:solidFill>
                      <a:srgbClr val="F4F6F9"/>
                    </a:solidFill>
                  </a:tcPr>
                </a:tc>
                <a:tc>
                  <a:txBody>
                    <a:bodyPr/>
                    <a:lstStyle/>
                    <a:p>
                      <a:pPr algn="l"/>
                      <a:r>
                        <a:rPr sz="1300" b="0">
                          <a:solidFill>
                            <a:srgbClr val="1B2A4A"/>
                          </a:solidFill>
                        </a:rPr>
                        <a:t>arm ビルドでの検証 (arm64)</a:t>
                      </a:r>
                    </a:p>
                  </a:txBody>
                  <a:tcPr>
                    <a:solidFill>
                      <a:srgbClr val="F4F6F9"/>
                    </a:solidFill>
                  </a:tcPr>
                </a:tc>
                <a:tc>
                  <a:txBody>
                    <a:bodyPr/>
                    <a:lstStyle/>
                    <a:p>
                      <a:pPr algn="ctr"/>
                      <a:r>
                        <a:rPr sz="1300" b="1">
                          <a:solidFill>
                            <a:srgbClr val="2E7D32"/>
                          </a:solidFill>
                        </a:rPr>
                        <a:t>完了</a:t>
                      </a:r>
                    </a:p>
                  </a:txBody>
                  <a:tcPr>
                    <a:solidFill>
                      <a:srgbClr val="F4F6F9"/>
                    </a:solidFill>
                  </a:tcPr>
                </a:tc>
              </a:tr>
              <a:tr h="404948">
                <a:tc>
                  <a:txBody>
                    <a:bodyPr/>
                    <a:lstStyle/>
                    <a:p>
                      <a:pPr algn="ctr"/>
                      <a:r>
                        <a:rPr sz="1300" b="0">
                          <a:solidFill>
                            <a:srgbClr val="1B2A4A"/>
                          </a:solidFill>
                        </a:rPr>
                        <a:t>B-7</a:t>
                      </a:r>
                    </a:p>
                  </a:txBody>
                  <a:tcPr>
                    <a:solidFill>
                      <a:srgbClr val="FFFFFF"/>
                    </a:solidFill>
                  </a:tcPr>
                </a:tc>
                <a:tc>
                  <a:txBody>
                    <a:bodyPr/>
                    <a:lstStyle/>
                    <a:p>
                      <a:pPr algn="l"/>
                      <a:r>
                        <a:rPr sz="1300" b="0">
                          <a:solidFill>
                            <a:srgbClr val="1B2A4A"/>
                          </a:solidFill>
                        </a:rPr>
                        <a:t>再現手順書 英語版</a:t>
                      </a:r>
                    </a:p>
                  </a:txBody>
                  <a:tcPr>
                    <a:solidFill>
                      <a:srgbClr val="FFFFFF"/>
                    </a:solidFill>
                  </a:tcPr>
                </a:tc>
                <a:tc>
                  <a:txBody>
                    <a:bodyPr/>
                    <a:lstStyle/>
                    <a:p>
                      <a:pPr algn="ctr"/>
                      <a:r>
                        <a:rPr sz="1300" b="1">
                          <a:solidFill>
                            <a:srgbClr val="2E7D32"/>
                          </a:solidFill>
                        </a:rPr>
                        <a:t>完了</a:t>
                      </a:r>
                    </a:p>
                  </a:txBody>
                  <a:tcPr>
                    <a:solidFill>
                      <a:srgbClr val="FFFFFF"/>
                    </a:solidFill>
                  </a:tcPr>
                </a:tc>
              </a:tr>
              <a:tr h="404952">
                <a:tc>
                  <a:txBody>
                    <a:bodyPr/>
                    <a:lstStyle/>
                    <a:p>
                      <a:pPr algn="ctr"/>
                      <a:r>
                        <a:rPr sz="1300" b="0">
                          <a:solidFill>
                            <a:srgbClr val="1B2A4A"/>
                          </a:solidFill>
                        </a:rPr>
                        <a:t>B-8</a:t>
                      </a:r>
                    </a:p>
                  </a:txBody>
                  <a:tcPr>
                    <a:solidFill>
                      <a:srgbClr val="F4F6F9"/>
                    </a:solidFill>
                  </a:tcPr>
                </a:tc>
                <a:tc>
                  <a:txBody>
                    <a:bodyPr/>
                    <a:lstStyle/>
                    <a:p>
                      <a:pPr algn="l"/>
                      <a:r>
                        <a:rPr sz="1300" b="0">
                          <a:solidFill>
                            <a:srgbClr val="1B2A4A"/>
                          </a:solidFill>
                        </a:rPr>
                        <a:t>SBOM ↔ ソーストレーサビリティ照会</a:t>
                      </a:r>
                    </a:p>
                  </a:txBody>
                  <a:tcPr>
                    <a:solidFill>
                      <a:srgbClr val="F4F6F9"/>
                    </a:solidFill>
                  </a:tcPr>
                </a:tc>
                <a:tc>
                  <a:txBody>
                    <a:bodyPr/>
                    <a:lstStyle/>
                    <a:p>
                      <a:pPr algn="ctr"/>
                      <a:r>
                        <a:rPr sz="1300" b="1">
                          <a:solidFill>
                            <a:srgbClr val="2E7D32"/>
                          </a:solidFill>
                        </a:rPr>
                        <a:t>完了</a:t>
                      </a:r>
                    </a:p>
                  </a:txBody>
                  <a:tcPr>
                    <a:solidFill>
                      <a:srgbClr val="F4F6F9"/>
                    </a:solidFill>
                  </a:tcPr>
                </a:tc>
              </a:tr>
            </a:tbl>
          </a:graphicData>
        </a:graphic>
      </p:graphicFrame>
      <p:sp>
        <p:nvSpPr>
          <p:cNvPr id="8" name="TextBox 7"/>
          <p:cNvSpPr txBox="1"/>
          <p:nvPr/>
        </p:nvSpPr>
        <p:spPr>
          <a:xfrm>
            <a:off x="548640" y="4434840"/>
            <a:ext cx="11064240" cy="1463040"/>
          </a:xfrm>
          <a:prstGeom prst="rect">
            <a:avLst/>
          </a:prstGeom>
          <a:noFill/>
        </p:spPr>
        <p:txBody>
          <a:bodyPr wrap="square">
            <a:spAutoFit/>
          </a:bodyPr>
          <a:lstStyle/>
          <a:p>
            <a:pPr algn="l">
              <a:lnSpc>
                <a:spcPct val="135000"/>
              </a:lnSpc>
            </a:pPr>
            <a:r>
              <a:rPr sz="1700" b="1">
                <a:solidFill>
                  <a:srgbClr val="2E86AB"/>
                </a:solidFill>
                <a:latin typeface="Calibri"/>
              </a:rPr>
              <a:t>上流 KernelSbom は Xen ハイパーバイザー本体に対して、無改造のまま</a:t>
            </a:r>
          </a:p>
          <a:p>
            <a:pPr algn="l">
              <a:lnSpc>
                <a:spcPct val="135000"/>
              </a:lnSpc>
            </a:pPr>
            <a:r>
              <a:rPr sz="1700" b="1">
                <a:solidFill>
                  <a:srgbClr val="2E86AB"/>
                </a:solidFill>
                <a:latin typeface="Calibri"/>
              </a:rPr>
              <a:t>x86_64 / arm64 の両方で 100% 利用可能であることを実証。</a:t>
            </a:r>
          </a:p>
          <a:p>
            <a:pPr algn="l">
              <a:lnSpc>
                <a:spcPct val="135000"/>
              </a:lnSpc>
            </a:pPr>
            <a:r>
              <a:rPr sz="1700" b="1">
                <a:solidFill>
                  <a:srgbClr val="2E86AB"/>
                </a:solidFill>
                <a:latin typeface="Calibri"/>
              </a:rPr>
              <a:t>ソースコードからの変更影響トレーサビリティも運用可能な形で完成。</a:t>
            </a:r>
          </a:p>
        </p:txBody>
      </p:sp>
      <p:sp>
        <p:nvSpPr>
          <p:cNvPr id="9" name="TextBox 8"/>
          <p:cNvSpPr txBox="1"/>
          <p:nvPr/>
        </p:nvSpPr>
        <p:spPr>
          <a:xfrm>
            <a:off x="457200" y="6537960"/>
            <a:ext cx="7315200" cy="274320"/>
          </a:xfrm>
          <a:prstGeom prst="rect">
            <a:avLst/>
          </a:prstGeom>
          <a:noFill/>
        </p:spPr>
        <p:txBody>
          <a:bodyPr wrap="square">
            <a:spAutoFit/>
          </a:bodyPr>
          <a:lstStyle/>
          <a:p>
            <a:pPr algn="l"/>
            <a:r>
              <a:rPr sz="1000" b="0">
                <a:solidFill>
                  <a:srgbClr val="555555"/>
                </a:solidFill>
                <a:latin typeface="Calibri"/>
              </a:rPr>
              <a:t>Xen SPDX SBOM Project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BACKLOG</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残課題 (1/2) — 全体カバレッジの拡大</a:t>
            </a:r>
          </a:p>
        </p:txBody>
      </p:sp>
      <p:sp>
        <p:nvSpPr>
          <p:cNvPr id="6" name="TextBox 5"/>
          <p:cNvSpPr txBox="1"/>
          <p:nvPr/>
        </p:nvSpPr>
        <p:spPr>
          <a:xfrm>
            <a:off x="11247120" y="411480"/>
            <a:ext cx="731520" cy="365760"/>
          </a:xfrm>
          <a:prstGeom prst="rect">
            <a:avLst/>
          </a:prstGeom>
          <a:noFill/>
        </p:spPr>
        <p:txBody>
          <a:bodyPr wrap="square">
            <a:spAutoFit/>
          </a:bodyPr>
          <a:lstStyle/>
          <a:p>
            <a:pPr algn="r"/>
            <a:r>
              <a:rPr sz="1200" b="0">
                <a:solidFill>
                  <a:srgbClr val="BBCCDD"/>
                </a:solidFill>
                <a:latin typeface="Calibri"/>
              </a:rPr>
              <a:t>8/9</a:t>
            </a:r>
          </a:p>
        </p:txBody>
      </p:sp>
      <p:sp>
        <p:nvSpPr>
          <p:cNvPr id="7" name="Rectangle 6"/>
          <p:cNvSpPr/>
          <p:nvPr/>
        </p:nvSpPr>
        <p:spPr>
          <a:xfrm>
            <a:off x="548640" y="1325880"/>
            <a:ext cx="11064240" cy="12344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109728" cy="123444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380744"/>
            <a:ext cx="8503920" cy="365760"/>
          </a:xfrm>
          <a:prstGeom prst="rect">
            <a:avLst/>
          </a:prstGeom>
          <a:noFill/>
        </p:spPr>
        <p:txBody>
          <a:bodyPr wrap="square">
            <a:spAutoFit/>
          </a:bodyPr>
          <a:lstStyle/>
          <a:p>
            <a:pPr algn="l"/>
            <a:r>
              <a:rPr sz="1700" b="1">
                <a:solidFill>
                  <a:srgbClr val="1B2A4A"/>
                </a:solidFill>
                <a:latin typeface="Calibri"/>
              </a:rPr>
              <a:t>tools/libs 向け SBOM コレクタの実装</a:t>
            </a:r>
          </a:p>
        </p:txBody>
      </p:sp>
      <p:sp>
        <p:nvSpPr>
          <p:cNvPr id="10" name="Rectangle 9"/>
          <p:cNvSpPr/>
          <p:nvPr/>
        </p:nvSpPr>
        <p:spPr>
          <a:xfrm>
            <a:off x="9784080" y="1380744"/>
            <a:ext cx="1554480" cy="347472"/>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0" y="1380744"/>
            <a:ext cx="1554480" cy="347472"/>
          </a:xfrm>
          <a:prstGeom prst="rect">
            <a:avLst/>
          </a:prstGeom>
          <a:noFill/>
        </p:spPr>
        <p:txBody>
          <a:bodyPr wrap="square" anchor="ctr">
            <a:spAutoFit/>
          </a:bodyPr>
          <a:lstStyle/>
          <a:p>
            <a:pPr algn="ctr"/>
            <a:r>
              <a:rPr sz="1200" b="1">
                <a:solidFill>
                  <a:srgbClr val="FFFFFF"/>
                </a:solidFill>
                <a:latin typeface="Calibri"/>
              </a:rPr>
              <a:t>中</a:t>
            </a:r>
          </a:p>
        </p:txBody>
      </p:sp>
      <p:sp>
        <p:nvSpPr>
          <p:cNvPr id="12" name="TextBox 11"/>
          <p:cNvSpPr txBox="1"/>
          <p:nvPr/>
        </p:nvSpPr>
        <p:spPr>
          <a:xfrm>
            <a:off x="822960" y="1783080"/>
            <a:ext cx="10515600" cy="365760"/>
          </a:xfrm>
          <a:prstGeom prst="rect">
            <a:avLst/>
          </a:prstGeom>
          <a:noFill/>
        </p:spPr>
        <p:txBody>
          <a:bodyPr wrap="square">
            <a:spAutoFit/>
          </a:bodyPr>
          <a:lstStyle/>
          <a:p>
            <a:pPr algn="l">
              <a:lnSpc>
                <a:spcPct val="105000"/>
              </a:lnSpc>
            </a:pPr>
            <a:r>
              <a:rPr sz="1300" b="0">
                <a:solidFill>
                  <a:srgbClr val="1B2A4A"/>
                </a:solidFill>
                <a:latin typeface="Calibri"/>
              </a:rPr>
              <a:t>What: Xen のユーザー空間ツール(xl, libxl 等。autotools でビルドされる tools/・libs/)の SBOM を生成する仕組みを追加する</a:t>
            </a:r>
          </a:p>
        </p:txBody>
      </p:sp>
      <p:sp>
        <p:nvSpPr>
          <p:cNvPr id="13" name="TextBox 12"/>
          <p:cNvSpPr txBox="1"/>
          <p:nvPr/>
        </p:nvSpPr>
        <p:spPr>
          <a:xfrm>
            <a:off x="822960" y="2167128"/>
            <a:ext cx="10515600" cy="365760"/>
          </a:xfrm>
          <a:prstGeom prst="rect">
            <a:avLst/>
          </a:prstGeom>
          <a:noFill/>
        </p:spPr>
        <p:txBody>
          <a:bodyPr wrap="square">
            <a:spAutoFit/>
          </a:bodyPr>
          <a:lstStyle/>
          <a:p>
            <a:pPr algn="l">
              <a:lnSpc>
                <a:spcPct val="105000"/>
              </a:lnSpc>
            </a:pPr>
            <a:r>
              <a:rPr sz="1250" b="0">
                <a:solidFill>
                  <a:srgbClr val="555555"/>
                </a:solidFill>
                <a:latin typeface="Calibri"/>
              </a:rPr>
              <a:t>Why: 現在完成している SBOM はハイパーバイザー本体(xen/)のみが対象。ユーザー空間まで含めないと Xen 全体を網羅したことにならない</a:t>
            </a:r>
          </a:p>
        </p:txBody>
      </p:sp>
      <p:sp>
        <p:nvSpPr>
          <p:cNvPr id="14" name="Rectangle 13"/>
          <p:cNvSpPr/>
          <p:nvPr/>
        </p:nvSpPr>
        <p:spPr>
          <a:xfrm>
            <a:off x="548640" y="2606040"/>
            <a:ext cx="11064240" cy="12344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606040"/>
            <a:ext cx="109728" cy="123444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660904"/>
            <a:ext cx="8503920" cy="365760"/>
          </a:xfrm>
          <a:prstGeom prst="rect">
            <a:avLst/>
          </a:prstGeom>
          <a:noFill/>
        </p:spPr>
        <p:txBody>
          <a:bodyPr wrap="square">
            <a:spAutoFit/>
          </a:bodyPr>
          <a:lstStyle/>
          <a:p>
            <a:pPr algn="l"/>
            <a:r>
              <a:rPr sz="1700" b="1">
                <a:solidFill>
                  <a:srgbClr val="1B2A4A"/>
                </a:solidFill>
                <a:latin typeface="Calibri"/>
              </a:rPr>
              <a:t>CI での自動再現の仕組み化</a:t>
            </a:r>
          </a:p>
        </p:txBody>
      </p:sp>
      <p:sp>
        <p:nvSpPr>
          <p:cNvPr id="17" name="Rectangle 16"/>
          <p:cNvSpPr/>
          <p:nvPr/>
        </p:nvSpPr>
        <p:spPr>
          <a:xfrm>
            <a:off x="9784080" y="2660904"/>
            <a:ext cx="1554480" cy="347472"/>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84080" y="2660904"/>
            <a:ext cx="1554480" cy="347472"/>
          </a:xfrm>
          <a:prstGeom prst="rect">
            <a:avLst/>
          </a:prstGeom>
          <a:noFill/>
        </p:spPr>
        <p:txBody>
          <a:bodyPr wrap="square" anchor="ctr">
            <a:spAutoFit/>
          </a:bodyPr>
          <a:lstStyle/>
          <a:p>
            <a:pPr algn="ctr"/>
            <a:r>
              <a:rPr sz="1200" b="1">
                <a:solidFill>
                  <a:srgbClr val="FFFFFF"/>
                </a:solidFill>
                <a:latin typeface="Calibri"/>
              </a:rPr>
              <a:t>中</a:t>
            </a:r>
          </a:p>
        </p:txBody>
      </p:sp>
      <p:sp>
        <p:nvSpPr>
          <p:cNvPr id="19" name="TextBox 18"/>
          <p:cNvSpPr txBox="1"/>
          <p:nvPr/>
        </p:nvSpPr>
        <p:spPr>
          <a:xfrm>
            <a:off x="822960" y="3063240"/>
            <a:ext cx="10515600" cy="365760"/>
          </a:xfrm>
          <a:prstGeom prst="rect">
            <a:avLst/>
          </a:prstGeom>
          <a:noFill/>
        </p:spPr>
        <p:txBody>
          <a:bodyPr wrap="square">
            <a:spAutoFit/>
          </a:bodyPr>
          <a:lstStyle/>
          <a:p>
            <a:pPr algn="l">
              <a:lnSpc>
                <a:spcPct val="105000"/>
              </a:lnSpc>
            </a:pPr>
            <a:r>
              <a:rPr sz="1300" b="0">
                <a:solidFill>
                  <a:srgbClr val="1B2A4A"/>
                </a:solidFill>
                <a:latin typeface="Calibri"/>
              </a:rPr>
              <a:t>What: SBOM 生成を Xen の通常のビルド手順(make)に組み込み、CI 上で毎回自動生成できるようにする</a:t>
            </a:r>
          </a:p>
        </p:txBody>
      </p:sp>
      <p:sp>
        <p:nvSpPr>
          <p:cNvPr id="20" name="TextBox 19"/>
          <p:cNvSpPr txBox="1"/>
          <p:nvPr/>
        </p:nvSpPr>
        <p:spPr>
          <a:xfrm>
            <a:off x="822960" y="3447288"/>
            <a:ext cx="10515600" cy="365760"/>
          </a:xfrm>
          <a:prstGeom prst="rect">
            <a:avLst/>
          </a:prstGeom>
          <a:noFill/>
        </p:spPr>
        <p:txBody>
          <a:bodyPr wrap="square">
            <a:spAutoFit/>
          </a:bodyPr>
          <a:lstStyle/>
          <a:p>
            <a:pPr algn="l">
              <a:lnSpc>
                <a:spcPct val="105000"/>
              </a:lnSpc>
            </a:pPr>
            <a:r>
              <a:rPr sz="1250" b="0">
                <a:solidFill>
                  <a:srgbClr val="555555"/>
                </a:solidFill>
                <a:latin typeface="Calibri"/>
              </a:rPr>
              <a:t>Why: 現状は本プロジェクト独自の外部スクリプトを手動実行しており、Xen 公式のビルド/CI フローには組み込まれていない</a:t>
            </a:r>
          </a:p>
        </p:txBody>
      </p:sp>
      <p:sp>
        <p:nvSpPr>
          <p:cNvPr id="21" name="Rectangle 20"/>
          <p:cNvSpPr/>
          <p:nvPr/>
        </p:nvSpPr>
        <p:spPr>
          <a:xfrm>
            <a:off x="548640" y="3886200"/>
            <a:ext cx="11064240" cy="12344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886200"/>
            <a:ext cx="109728" cy="123444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941064"/>
            <a:ext cx="8503920" cy="365760"/>
          </a:xfrm>
          <a:prstGeom prst="rect">
            <a:avLst/>
          </a:prstGeom>
          <a:noFill/>
        </p:spPr>
        <p:txBody>
          <a:bodyPr wrap="square">
            <a:spAutoFit/>
          </a:bodyPr>
          <a:lstStyle/>
          <a:p>
            <a:pPr algn="l"/>
            <a:r>
              <a:rPr sz="1700" b="1">
                <a:solidFill>
                  <a:srgbClr val="1B2A4A"/>
                </a:solidFill>
                <a:latin typeface="Calibri"/>
              </a:rPr>
              <a:t>他のビルド設定でのパーサー網羅性確認</a:t>
            </a:r>
          </a:p>
        </p:txBody>
      </p:sp>
      <p:sp>
        <p:nvSpPr>
          <p:cNvPr id="24" name="Rectangle 23"/>
          <p:cNvSpPr/>
          <p:nvPr/>
        </p:nvSpPr>
        <p:spPr>
          <a:xfrm>
            <a:off x="9784080" y="3941064"/>
            <a:ext cx="1554480" cy="347472"/>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0" y="3941064"/>
            <a:ext cx="1554480" cy="347472"/>
          </a:xfrm>
          <a:prstGeom prst="rect">
            <a:avLst/>
          </a:prstGeom>
          <a:noFill/>
        </p:spPr>
        <p:txBody>
          <a:bodyPr wrap="square" anchor="ctr">
            <a:spAutoFit/>
          </a:bodyPr>
          <a:lstStyle/>
          <a:p>
            <a:pPr algn="ctr"/>
            <a:r>
              <a:rPr sz="1200" b="1">
                <a:solidFill>
                  <a:srgbClr val="FFFFFF"/>
                </a:solidFill>
                <a:latin typeface="Calibri"/>
              </a:rPr>
              <a:t>中</a:t>
            </a:r>
          </a:p>
        </p:txBody>
      </p:sp>
      <p:sp>
        <p:nvSpPr>
          <p:cNvPr id="26" name="TextBox 25"/>
          <p:cNvSpPr txBox="1"/>
          <p:nvPr/>
        </p:nvSpPr>
        <p:spPr>
          <a:xfrm>
            <a:off x="822960" y="4343400"/>
            <a:ext cx="10515600" cy="365760"/>
          </a:xfrm>
          <a:prstGeom prst="rect">
            <a:avLst/>
          </a:prstGeom>
          <a:noFill/>
        </p:spPr>
        <p:txBody>
          <a:bodyPr wrap="square">
            <a:spAutoFit/>
          </a:bodyPr>
          <a:lstStyle/>
          <a:p>
            <a:pPr algn="l">
              <a:lnSpc>
                <a:spcPct val="105000"/>
              </a:lnSpc>
            </a:pPr>
            <a:r>
              <a:rPr sz="1300" b="0">
                <a:solidFill>
                  <a:srgbClr val="1B2A4A"/>
                </a:solidFill>
                <a:latin typeface="Calibri"/>
              </a:rPr>
              <a:t>What: 今回検証した x86_64 / arm64 以外のビルド設定(コンフィグオプションの組み合わせ)でも未知コマンドが出ないか確認する</a:t>
            </a:r>
          </a:p>
        </p:txBody>
      </p:sp>
      <p:sp>
        <p:nvSpPr>
          <p:cNvPr id="27" name="TextBox 26"/>
          <p:cNvSpPr txBox="1"/>
          <p:nvPr/>
        </p:nvSpPr>
        <p:spPr>
          <a:xfrm>
            <a:off x="822960" y="4727448"/>
            <a:ext cx="10515600" cy="365760"/>
          </a:xfrm>
          <a:prstGeom prst="rect">
            <a:avLst/>
          </a:prstGeom>
          <a:noFill/>
        </p:spPr>
        <p:txBody>
          <a:bodyPr wrap="square">
            <a:spAutoFit/>
          </a:bodyPr>
          <a:lstStyle/>
          <a:p>
            <a:pPr algn="l">
              <a:lnSpc>
                <a:spcPct val="105000"/>
              </a:lnSpc>
            </a:pPr>
            <a:r>
              <a:rPr sz="1250" b="0">
                <a:solidFill>
                  <a:srgbClr val="555555"/>
                </a:solidFill>
                <a:latin typeface="Calibri"/>
              </a:rPr>
              <a:t>Why: arm64 の検証で「欠落はアーキテクチャの差ではなく、有効化するコンフィグオプションの差で起きる」とわかったため、他の設定にも同種のギャップがある可能性が高い</a:t>
            </a:r>
          </a:p>
        </p:txBody>
      </p:sp>
      <p:sp>
        <p:nvSpPr>
          <p:cNvPr id="28" name="Rectangle 27"/>
          <p:cNvSpPr/>
          <p:nvPr/>
        </p:nvSpPr>
        <p:spPr>
          <a:xfrm>
            <a:off x="548640" y="5166360"/>
            <a:ext cx="11064240" cy="12344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166360"/>
            <a:ext cx="109728" cy="123444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221224"/>
            <a:ext cx="8503920" cy="365760"/>
          </a:xfrm>
          <a:prstGeom prst="rect">
            <a:avLst/>
          </a:prstGeom>
          <a:noFill/>
        </p:spPr>
        <p:txBody>
          <a:bodyPr wrap="square">
            <a:spAutoFit/>
          </a:bodyPr>
          <a:lstStyle/>
          <a:p>
            <a:pPr algn="l"/>
            <a:r>
              <a:rPr sz="1700" b="1">
                <a:solidFill>
                  <a:srgbClr val="1B2A4A"/>
                </a:solidFill>
                <a:latin typeface="Calibri"/>
              </a:rPr>
              <a:t>arm32 での検証</a:t>
            </a:r>
          </a:p>
        </p:txBody>
      </p:sp>
      <p:sp>
        <p:nvSpPr>
          <p:cNvPr id="31" name="Rectangle 30"/>
          <p:cNvSpPr/>
          <p:nvPr/>
        </p:nvSpPr>
        <p:spPr>
          <a:xfrm>
            <a:off x="9784080" y="5221224"/>
            <a:ext cx="1554480" cy="347472"/>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84080" y="5221224"/>
            <a:ext cx="1554480" cy="347472"/>
          </a:xfrm>
          <a:prstGeom prst="rect">
            <a:avLst/>
          </a:prstGeom>
          <a:noFill/>
        </p:spPr>
        <p:txBody>
          <a:bodyPr wrap="square" anchor="ctr">
            <a:spAutoFit/>
          </a:bodyPr>
          <a:lstStyle/>
          <a:p>
            <a:pPr algn="ctr"/>
            <a:r>
              <a:rPr sz="1200" b="1">
                <a:solidFill>
                  <a:srgbClr val="FFFFFF"/>
                </a:solidFill>
                <a:latin typeface="Calibri"/>
              </a:rPr>
              <a:t>低</a:t>
            </a:r>
          </a:p>
        </p:txBody>
      </p:sp>
      <p:sp>
        <p:nvSpPr>
          <p:cNvPr id="33" name="TextBox 32"/>
          <p:cNvSpPr txBox="1"/>
          <p:nvPr/>
        </p:nvSpPr>
        <p:spPr>
          <a:xfrm>
            <a:off x="822960" y="5623560"/>
            <a:ext cx="10515600" cy="365760"/>
          </a:xfrm>
          <a:prstGeom prst="rect">
            <a:avLst/>
          </a:prstGeom>
          <a:noFill/>
        </p:spPr>
        <p:txBody>
          <a:bodyPr wrap="square">
            <a:spAutoFit/>
          </a:bodyPr>
          <a:lstStyle/>
          <a:p>
            <a:pPr algn="l">
              <a:lnSpc>
                <a:spcPct val="105000"/>
              </a:lnSpc>
            </a:pPr>
            <a:r>
              <a:rPr sz="1300" b="0">
                <a:solidFill>
                  <a:srgbClr val="1B2A4A"/>
                </a:solidFill>
                <a:latin typeface="Calibri"/>
              </a:rPr>
              <a:t>What: arm64 に続き、arm32(32bit Arm)アーキテクチャでも同様に SBOM が生成できるか検証する</a:t>
            </a:r>
          </a:p>
        </p:txBody>
      </p:sp>
      <p:sp>
        <p:nvSpPr>
          <p:cNvPr id="34" name="TextBox 33"/>
          <p:cNvSpPr txBox="1"/>
          <p:nvPr/>
        </p:nvSpPr>
        <p:spPr>
          <a:xfrm>
            <a:off x="822960" y="6007608"/>
            <a:ext cx="10515600" cy="365760"/>
          </a:xfrm>
          <a:prstGeom prst="rect">
            <a:avLst/>
          </a:prstGeom>
          <a:noFill/>
        </p:spPr>
        <p:txBody>
          <a:bodyPr wrap="square">
            <a:spAutoFit/>
          </a:bodyPr>
          <a:lstStyle/>
          <a:p>
            <a:pPr algn="l">
              <a:lnSpc>
                <a:spcPct val="105000"/>
              </a:lnSpc>
            </a:pPr>
            <a:r>
              <a:rPr sz="1250" b="0">
                <a:solidFill>
                  <a:srgbClr val="555555"/>
                </a:solidFill>
                <a:latin typeface="Calibri"/>
              </a:rPr>
              <a:t>Why: 未検証のアーキテクチャが残っており、arm64 と同様にコンフィグ依存の欠落が出る可能性がある</a:t>
            </a:r>
          </a:p>
        </p:txBody>
      </p:sp>
      <p:sp>
        <p:nvSpPr>
          <p:cNvPr id="35" name="TextBox 34"/>
          <p:cNvSpPr txBox="1"/>
          <p:nvPr/>
        </p:nvSpPr>
        <p:spPr>
          <a:xfrm>
            <a:off x="457200" y="6537960"/>
            <a:ext cx="7315200" cy="274320"/>
          </a:xfrm>
          <a:prstGeom prst="rect">
            <a:avLst/>
          </a:prstGeom>
          <a:noFill/>
        </p:spPr>
        <p:txBody>
          <a:bodyPr wrap="square">
            <a:spAutoFit/>
          </a:bodyPr>
          <a:lstStyle/>
          <a:p>
            <a:pPr algn="l"/>
            <a:r>
              <a:rPr sz="1000" b="0">
                <a:solidFill>
                  <a:srgbClr val="555555"/>
                </a:solidFill>
                <a:latin typeface="Calibri"/>
              </a:rPr>
              <a:t>Xen SPDX SBOM Project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BACKLOG</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残課題 (2/2) — Safety Case 連携・その他</a:t>
            </a:r>
          </a:p>
        </p:txBody>
      </p:sp>
      <p:sp>
        <p:nvSpPr>
          <p:cNvPr id="6" name="TextBox 5"/>
          <p:cNvSpPr txBox="1"/>
          <p:nvPr/>
        </p:nvSpPr>
        <p:spPr>
          <a:xfrm>
            <a:off x="11247120" y="411480"/>
            <a:ext cx="731520" cy="365760"/>
          </a:xfrm>
          <a:prstGeom prst="rect">
            <a:avLst/>
          </a:prstGeom>
          <a:noFill/>
        </p:spPr>
        <p:txBody>
          <a:bodyPr wrap="square">
            <a:spAutoFit/>
          </a:bodyPr>
          <a:lstStyle/>
          <a:p>
            <a:pPr algn="r"/>
            <a:r>
              <a:rPr sz="1200" b="0">
                <a:solidFill>
                  <a:srgbClr val="BBCCDD"/>
                </a:solidFill>
                <a:latin typeface="Calibri"/>
              </a:rPr>
              <a:t>9/9</a:t>
            </a:r>
          </a:p>
        </p:txBody>
      </p:sp>
      <p:sp>
        <p:nvSpPr>
          <p:cNvPr id="7" name="Rectangle 6"/>
          <p:cNvSpPr/>
          <p:nvPr/>
        </p:nvSpPr>
        <p:spPr>
          <a:xfrm>
            <a:off x="548640" y="1325880"/>
            <a:ext cx="11064240" cy="12344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325880"/>
            <a:ext cx="109728" cy="1234440"/>
          </a:xfrm>
          <a:prstGeom prst="rect">
            <a:avLst/>
          </a:prstGeom>
          <a:solidFill>
            <a:srgbClr val="B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1380744"/>
            <a:ext cx="8503920" cy="365760"/>
          </a:xfrm>
          <a:prstGeom prst="rect">
            <a:avLst/>
          </a:prstGeom>
          <a:noFill/>
        </p:spPr>
        <p:txBody>
          <a:bodyPr wrap="square">
            <a:spAutoFit/>
          </a:bodyPr>
          <a:lstStyle/>
          <a:p>
            <a:pPr algn="l"/>
            <a:r>
              <a:rPr sz="1700" b="1">
                <a:solidFill>
                  <a:srgbClr val="1B2A4A"/>
                </a:solidFill>
                <a:latin typeface="Calibri"/>
              </a:rPr>
              <a:t>Safety Case 連携の必要性確認</a:t>
            </a:r>
          </a:p>
        </p:txBody>
      </p:sp>
      <p:sp>
        <p:nvSpPr>
          <p:cNvPr id="10" name="Rectangle 9"/>
          <p:cNvSpPr/>
          <p:nvPr/>
        </p:nvSpPr>
        <p:spPr>
          <a:xfrm>
            <a:off x="9784080" y="1380744"/>
            <a:ext cx="1554480" cy="347472"/>
          </a:xfrm>
          <a:prstGeom prst="rect">
            <a:avLst/>
          </a:prstGeom>
          <a:solidFill>
            <a:srgbClr val="B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784080" y="1380744"/>
            <a:ext cx="1554480" cy="347472"/>
          </a:xfrm>
          <a:prstGeom prst="rect">
            <a:avLst/>
          </a:prstGeom>
          <a:noFill/>
        </p:spPr>
        <p:txBody>
          <a:bodyPr wrap="square" anchor="ctr">
            <a:spAutoFit/>
          </a:bodyPr>
          <a:lstStyle/>
          <a:p>
            <a:pPr algn="ctr"/>
            <a:r>
              <a:rPr sz="1200" b="1">
                <a:solidFill>
                  <a:srgbClr val="FFFFFF"/>
                </a:solidFill>
                <a:latin typeface="Calibri"/>
              </a:rPr>
              <a:t>高</a:t>
            </a:r>
          </a:p>
        </p:txBody>
      </p:sp>
      <p:sp>
        <p:nvSpPr>
          <p:cNvPr id="12" name="TextBox 11"/>
          <p:cNvSpPr txBox="1"/>
          <p:nvPr/>
        </p:nvSpPr>
        <p:spPr>
          <a:xfrm>
            <a:off x="822960" y="1783080"/>
            <a:ext cx="10515600" cy="365760"/>
          </a:xfrm>
          <a:prstGeom prst="rect">
            <a:avLst/>
          </a:prstGeom>
          <a:noFill/>
        </p:spPr>
        <p:txBody>
          <a:bodyPr wrap="square">
            <a:spAutoFit/>
          </a:bodyPr>
          <a:lstStyle/>
          <a:p>
            <a:pPr algn="l">
              <a:lnSpc>
                <a:spcPct val="105000"/>
              </a:lnSpc>
            </a:pPr>
            <a:r>
              <a:rPr sz="1300" b="0">
                <a:solidFill>
                  <a:srgbClr val="1B2A4A"/>
                </a:solidFill>
                <a:latin typeface="Calibri"/>
              </a:rPr>
              <a:t>What: Xen FuSa SIG が、SBOM と安全要求仕様・検証記録(Safety Case)の紐付けを実際に必要としているかを確認する</a:t>
            </a:r>
          </a:p>
        </p:txBody>
      </p:sp>
      <p:sp>
        <p:nvSpPr>
          <p:cNvPr id="13" name="TextBox 12"/>
          <p:cNvSpPr txBox="1"/>
          <p:nvPr/>
        </p:nvSpPr>
        <p:spPr>
          <a:xfrm>
            <a:off x="822960" y="2167128"/>
            <a:ext cx="10515600" cy="365760"/>
          </a:xfrm>
          <a:prstGeom prst="rect">
            <a:avLst/>
          </a:prstGeom>
          <a:noFill/>
        </p:spPr>
        <p:txBody>
          <a:bodyPr wrap="square">
            <a:spAutoFit/>
          </a:bodyPr>
          <a:lstStyle/>
          <a:p>
            <a:pPr algn="l">
              <a:lnSpc>
                <a:spcPct val="105000"/>
              </a:lnSpc>
            </a:pPr>
            <a:r>
              <a:rPr sz="1250" b="0">
                <a:solidFill>
                  <a:srgbClr val="555555"/>
                </a:solidFill>
                <a:latin typeface="Calibri"/>
              </a:rPr>
              <a:t>Why: 確認結果次第で次に着手すべき優先順位が変わる。SPDX の安全性専用拡張(Safety Profile)もまだ標準化の途中(リリース候補)で、先取りするとやり直しのリスクがある</a:t>
            </a:r>
          </a:p>
        </p:txBody>
      </p:sp>
      <p:sp>
        <p:nvSpPr>
          <p:cNvPr id="14" name="Rectangle 13"/>
          <p:cNvSpPr/>
          <p:nvPr/>
        </p:nvSpPr>
        <p:spPr>
          <a:xfrm>
            <a:off x="548640" y="2606040"/>
            <a:ext cx="11064240" cy="12344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606040"/>
            <a:ext cx="109728" cy="123444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2660904"/>
            <a:ext cx="8503920" cy="365760"/>
          </a:xfrm>
          <a:prstGeom prst="rect">
            <a:avLst/>
          </a:prstGeom>
          <a:noFill/>
        </p:spPr>
        <p:txBody>
          <a:bodyPr wrap="square">
            <a:spAutoFit/>
          </a:bodyPr>
          <a:lstStyle/>
          <a:p>
            <a:pPr algn="l"/>
            <a:r>
              <a:rPr sz="1700" b="1">
                <a:solidFill>
                  <a:srgbClr val="1B2A4A"/>
                </a:solidFill>
                <a:latin typeface="Calibri"/>
              </a:rPr>
              <a:t>Safety Case リンカの実装 (保留)</a:t>
            </a:r>
          </a:p>
        </p:txBody>
      </p:sp>
      <p:sp>
        <p:nvSpPr>
          <p:cNvPr id="17" name="Rectangle 16"/>
          <p:cNvSpPr/>
          <p:nvPr/>
        </p:nvSpPr>
        <p:spPr>
          <a:xfrm>
            <a:off x="9784080" y="2660904"/>
            <a:ext cx="1554480" cy="347472"/>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784080" y="2660904"/>
            <a:ext cx="1554480" cy="347472"/>
          </a:xfrm>
          <a:prstGeom prst="rect">
            <a:avLst/>
          </a:prstGeom>
          <a:noFill/>
        </p:spPr>
        <p:txBody>
          <a:bodyPr wrap="square" anchor="ctr">
            <a:spAutoFit/>
          </a:bodyPr>
          <a:lstStyle/>
          <a:p>
            <a:pPr algn="ctr"/>
            <a:r>
              <a:rPr sz="1200" b="1">
                <a:solidFill>
                  <a:srgbClr val="FFFFFF"/>
                </a:solidFill>
                <a:latin typeface="Calibri"/>
              </a:rPr>
              <a:t>保留</a:t>
            </a:r>
          </a:p>
        </p:txBody>
      </p:sp>
      <p:sp>
        <p:nvSpPr>
          <p:cNvPr id="19" name="TextBox 18"/>
          <p:cNvSpPr txBox="1"/>
          <p:nvPr/>
        </p:nvSpPr>
        <p:spPr>
          <a:xfrm>
            <a:off x="822960" y="3063240"/>
            <a:ext cx="10515600" cy="365760"/>
          </a:xfrm>
          <a:prstGeom prst="rect">
            <a:avLst/>
          </a:prstGeom>
          <a:noFill/>
        </p:spPr>
        <p:txBody>
          <a:bodyPr wrap="square">
            <a:spAutoFit/>
          </a:bodyPr>
          <a:lstStyle/>
          <a:p>
            <a:pPr algn="l">
              <a:lnSpc>
                <a:spcPct val="105000"/>
              </a:lnSpc>
            </a:pPr>
            <a:r>
              <a:rPr sz="1300" b="0">
                <a:solidFill>
                  <a:srgbClr val="1B2A4A"/>
                </a:solidFill>
                <a:latin typeface="Calibri"/>
              </a:rPr>
              <a:t>What: 上記の確認でニーズが確認できた場合に、SBOM と Safety Case 文書を自動的に紐付ける生成器を実装する</a:t>
            </a:r>
          </a:p>
        </p:txBody>
      </p:sp>
      <p:sp>
        <p:nvSpPr>
          <p:cNvPr id="20" name="TextBox 19"/>
          <p:cNvSpPr txBox="1"/>
          <p:nvPr/>
        </p:nvSpPr>
        <p:spPr>
          <a:xfrm>
            <a:off x="822960" y="3447288"/>
            <a:ext cx="10515600" cy="365760"/>
          </a:xfrm>
          <a:prstGeom prst="rect">
            <a:avLst/>
          </a:prstGeom>
          <a:noFill/>
        </p:spPr>
        <p:txBody>
          <a:bodyPr wrap="square">
            <a:spAutoFit/>
          </a:bodyPr>
          <a:lstStyle/>
          <a:p>
            <a:pPr algn="l">
              <a:lnSpc>
                <a:spcPct val="105000"/>
              </a:lnSpc>
            </a:pPr>
            <a:r>
              <a:rPr sz="1250" b="0">
                <a:solidFill>
                  <a:srgbClr val="555555"/>
                </a:solidFill>
                <a:latin typeface="Calibri"/>
              </a:rPr>
              <a:t>Why: 必要性が未確認の段階で作り込むと方針転換時の手戻りが大きいため、確認完了まで意図的に保留している</a:t>
            </a:r>
          </a:p>
        </p:txBody>
      </p:sp>
      <p:sp>
        <p:nvSpPr>
          <p:cNvPr id="21" name="Rectangle 20"/>
          <p:cNvSpPr/>
          <p:nvPr/>
        </p:nvSpPr>
        <p:spPr>
          <a:xfrm>
            <a:off x="548640" y="3886200"/>
            <a:ext cx="11064240" cy="12344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886200"/>
            <a:ext cx="109728" cy="123444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941064"/>
            <a:ext cx="8503920" cy="365760"/>
          </a:xfrm>
          <a:prstGeom prst="rect">
            <a:avLst/>
          </a:prstGeom>
          <a:noFill/>
        </p:spPr>
        <p:txBody>
          <a:bodyPr wrap="square">
            <a:spAutoFit/>
          </a:bodyPr>
          <a:lstStyle/>
          <a:p>
            <a:pPr algn="l"/>
            <a:r>
              <a:rPr sz="1700" b="1">
                <a:solidFill>
                  <a:srgbClr val="1B2A4A"/>
                </a:solidFill>
                <a:latin typeface="Calibri"/>
              </a:rPr>
              <a:t>Linux カーネルへの改善提案</a:t>
            </a:r>
          </a:p>
        </p:txBody>
      </p:sp>
      <p:sp>
        <p:nvSpPr>
          <p:cNvPr id="24" name="Rectangle 23"/>
          <p:cNvSpPr/>
          <p:nvPr/>
        </p:nvSpPr>
        <p:spPr>
          <a:xfrm>
            <a:off x="9784080" y="3941064"/>
            <a:ext cx="1554480" cy="347472"/>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784080" y="3941064"/>
            <a:ext cx="1554480" cy="347472"/>
          </a:xfrm>
          <a:prstGeom prst="rect">
            <a:avLst/>
          </a:prstGeom>
          <a:noFill/>
        </p:spPr>
        <p:txBody>
          <a:bodyPr wrap="square" anchor="ctr">
            <a:spAutoFit/>
          </a:bodyPr>
          <a:lstStyle/>
          <a:p>
            <a:pPr algn="ctr"/>
            <a:r>
              <a:rPr sz="1200" b="1">
                <a:solidFill>
                  <a:srgbClr val="FFFFFF"/>
                </a:solidFill>
                <a:latin typeface="Calibri"/>
              </a:rPr>
              <a:t>低</a:t>
            </a:r>
          </a:p>
        </p:txBody>
      </p:sp>
      <p:sp>
        <p:nvSpPr>
          <p:cNvPr id="26" name="TextBox 25"/>
          <p:cNvSpPr txBox="1"/>
          <p:nvPr/>
        </p:nvSpPr>
        <p:spPr>
          <a:xfrm>
            <a:off x="822960" y="4343400"/>
            <a:ext cx="10515600" cy="365760"/>
          </a:xfrm>
          <a:prstGeom prst="rect">
            <a:avLst/>
          </a:prstGeom>
          <a:noFill/>
        </p:spPr>
        <p:txBody>
          <a:bodyPr wrap="square">
            <a:spAutoFit/>
          </a:bodyPr>
          <a:lstStyle/>
          <a:p>
            <a:pPr algn="l">
              <a:lnSpc>
                <a:spcPct val="105000"/>
              </a:lnSpc>
            </a:pPr>
            <a:r>
              <a:rPr sz="1300" b="0">
                <a:solidFill>
                  <a:srgbClr val="1B2A4A"/>
                </a:solidFill>
                <a:latin typeface="Calibri"/>
              </a:rPr>
              <a:t>What: 本プロジェクトで見つかった改善点のうち、Xen 固有ではなく汎用的なもの(パーサーの頑健性向上など)を KernelSbom の開発元(Linux カーネル)に提案する</a:t>
            </a:r>
          </a:p>
        </p:txBody>
      </p:sp>
      <p:sp>
        <p:nvSpPr>
          <p:cNvPr id="27" name="TextBox 26"/>
          <p:cNvSpPr txBox="1"/>
          <p:nvPr/>
        </p:nvSpPr>
        <p:spPr>
          <a:xfrm>
            <a:off x="822960" y="4727448"/>
            <a:ext cx="10515600" cy="365760"/>
          </a:xfrm>
          <a:prstGeom prst="rect">
            <a:avLst/>
          </a:prstGeom>
          <a:noFill/>
        </p:spPr>
        <p:txBody>
          <a:bodyPr wrap="square">
            <a:spAutoFit/>
          </a:bodyPr>
          <a:lstStyle/>
          <a:p>
            <a:pPr algn="l">
              <a:lnSpc>
                <a:spcPct val="105000"/>
              </a:lnSpc>
            </a:pPr>
            <a:r>
              <a:rPr sz="1250" b="0">
                <a:solidFill>
                  <a:srgbClr val="555555"/>
                </a:solidFill>
                <a:latin typeface="Calibri"/>
              </a:rPr>
              <a:t>Why: 汎用的な修正は本プロジェクト内に留めるより、上流に取り込まれた方が長期的にメンテナンスされやすい</a:t>
            </a:r>
          </a:p>
        </p:txBody>
      </p:sp>
      <p:sp>
        <p:nvSpPr>
          <p:cNvPr id="28" name="Rectangle 27"/>
          <p:cNvSpPr/>
          <p:nvPr/>
        </p:nvSpPr>
        <p:spPr>
          <a:xfrm>
            <a:off x="548640" y="5166360"/>
            <a:ext cx="11064240" cy="1234440"/>
          </a:xfrm>
          <a:prstGeom prst="rect">
            <a:avLst/>
          </a:prstGeom>
          <a:solidFill>
            <a:srgbClr val="F4F6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48640" y="5166360"/>
            <a:ext cx="109728" cy="123444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5221224"/>
            <a:ext cx="8503920" cy="365760"/>
          </a:xfrm>
          <a:prstGeom prst="rect">
            <a:avLst/>
          </a:prstGeom>
          <a:noFill/>
        </p:spPr>
        <p:txBody>
          <a:bodyPr wrap="square">
            <a:spAutoFit/>
          </a:bodyPr>
          <a:lstStyle/>
          <a:p>
            <a:pPr algn="l"/>
            <a:r>
              <a:rPr sz="1700" b="1">
                <a:solidFill>
                  <a:srgbClr val="1B2A4A"/>
                </a:solidFill>
                <a:latin typeface="Calibri"/>
              </a:rPr>
              <a:t>実験実装 (tree-sitter-bash) の完成可否</a:t>
            </a:r>
          </a:p>
        </p:txBody>
      </p:sp>
      <p:sp>
        <p:nvSpPr>
          <p:cNvPr id="31" name="Rectangle 30"/>
          <p:cNvSpPr/>
          <p:nvPr/>
        </p:nvSpPr>
        <p:spPr>
          <a:xfrm>
            <a:off x="9784080" y="5221224"/>
            <a:ext cx="1554480" cy="347472"/>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784080" y="5221224"/>
            <a:ext cx="1554480" cy="347472"/>
          </a:xfrm>
          <a:prstGeom prst="rect">
            <a:avLst/>
          </a:prstGeom>
          <a:noFill/>
        </p:spPr>
        <p:txBody>
          <a:bodyPr wrap="square" anchor="ctr">
            <a:spAutoFit/>
          </a:bodyPr>
          <a:lstStyle/>
          <a:p>
            <a:pPr algn="ctr"/>
            <a:r>
              <a:rPr sz="1200" b="1">
                <a:solidFill>
                  <a:srgbClr val="FFFFFF"/>
                </a:solidFill>
                <a:latin typeface="Calibri"/>
              </a:rPr>
              <a:t>低</a:t>
            </a:r>
          </a:p>
        </p:txBody>
      </p:sp>
      <p:sp>
        <p:nvSpPr>
          <p:cNvPr id="33" name="TextBox 32"/>
          <p:cNvSpPr txBox="1"/>
          <p:nvPr/>
        </p:nvSpPr>
        <p:spPr>
          <a:xfrm>
            <a:off x="822960" y="5623560"/>
            <a:ext cx="10515600" cy="365760"/>
          </a:xfrm>
          <a:prstGeom prst="rect">
            <a:avLst/>
          </a:prstGeom>
          <a:noFill/>
        </p:spPr>
        <p:txBody>
          <a:bodyPr wrap="square">
            <a:spAutoFit/>
          </a:bodyPr>
          <a:lstStyle/>
          <a:p>
            <a:pPr algn="l">
              <a:lnSpc>
                <a:spcPct val="105000"/>
              </a:lnSpc>
            </a:pPr>
            <a:r>
              <a:rPr sz="1300" b="0">
                <a:solidFill>
                  <a:srgbClr val="1B2A4A"/>
                </a:solidFill>
                <a:latin typeface="Calibri"/>
              </a:rPr>
              <a:t>What: 今回「効果なし」と判断し不採用にした AST 解析の実験実装(詳細は Appendix)を、将来に備えて完成させておくかどうかを判断する</a:t>
            </a:r>
          </a:p>
        </p:txBody>
      </p:sp>
      <p:sp>
        <p:nvSpPr>
          <p:cNvPr id="34" name="TextBox 33"/>
          <p:cNvSpPr txBox="1"/>
          <p:nvPr/>
        </p:nvSpPr>
        <p:spPr>
          <a:xfrm>
            <a:off x="822960" y="6007608"/>
            <a:ext cx="10515600" cy="365760"/>
          </a:xfrm>
          <a:prstGeom prst="rect">
            <a:avLst/>
          </a:prstGeom>
          <a:noFill/>
        </p:spPr>
        <p:txBody>
          <a:bodyPr wrap="square">
            <a:spAutoFit/>
          </a:bodyPr>
          <a:lstStyle/>
          <a:p>
            <a:pPr algn="l">
              <a:lnSpc>
                <a:spcPct val="105000"/>
              </a:lnSpc>
            </a:pPr>
            <a:r>
              <a:rPr sz="1250" b="0">
                <a:solidFill>
                  <a:srgbClr val="555555"/>
                </a:solidFill>
                <a:latin typeface="Calibri"/>
              </a:rPr>
              <a:t>Why: 現時点では効果が実証されていないため優先度は低いが、将来より複雑な構文に遭遇した場合の保険として検討の余地は残す</a:t>
            </a:r>
          </a:p>
        </p:txBody>
      </p:sp>
      <p:sp>
        <p:nvSpPr>
          <p:cNvPr id="35" name="TextBox 34"/>
          <p:cNvSpPr txBox="1"/>
          <p:nvPr/>
        </p:nvSpPr>
        <p:spPr>
          <a:xfrm>
            <a:off x="457200" y="6537960"/>
            <a:ext cx="7315200" cy="274320"/>
          </a:xfrm>
          <a:prstGeom prst="rect">
            <a:avLst/>
          </a:prstGeom>
          <a:noFill/>
        </p:spPr>
        <p:txBody>
          <a:bodyPr wrap="square">
            <a:spAutoFit/>
          </a:bodyPr>
          <a:lstStyle/>
          <a:p>
            <a:pPr algn="l"/>
            <a:r>
              <a:rPr sz="1000" b="0">
                <a:solidFill>
                  <a:srgbClr val="555555"/>
                </a:solidFill>
                <a:latin typeface="Calibri"/>
              </a:rPr>
              <a:t>Xen SPDX SBOM Project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3A3A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926080"/>
            <a:ext cx="10332720" cy="914400"/>
          </a:xfrm>
          <a:prstGeom prst="rect">
            <a:avLst/>
          </a:prstGeom>
          <a:noFill/>
        </p:spPr>
        <p:txBody>
          <a:bodyPr wrap="square">
            <a:spAutoFit/>
          </a:bodyPr>
          <a:lstStyle/>
          <a:p>
            <a:pPr algn="l"/>
            <a:r>
              <a:rPr sz="4400" b="1">
                <a:solidFill>
                  <a:srgbClr val="FFFFFF"/>
                </a:solidFill>
                <a:latin typeface="Calibri"/>
              </a:rPr>
              <a:t>Appendix</a:t>
            </a:r>
          </a:p>
        </p:txBody>
      </p:sp>
      <p:sp>
        <p:nvSpPr>
          <p:cNvPr id="4" name="TextBox 3"/>
          <p:cNvSpPr txBox="1"/>
          <p:nvPr/>
        </p:nvSpPr>
        <p:spPr>
          <a:xfrm>
            <a:off x="914400" y="3749039"/>
            <a:ext cx="10332720" cy="457200"/>
          </a:xfrm>
          <a:prstGeom prst="rect">
            <a:avLst/>
          </a:prstGeom>
          <a:noFill/>
        </p:spPr>
        <p:txBody>
          <a:bodyPr wrap="square">
            <a:spAutoFit/>
          </a:bodyPr>
          <a:lstStyle/>
          <a:p>
            <a:pPr algn="l"/>
            <a:r>
              <a:rPr sz="1600" b="0">
                <a:solidFill>
                  <a:srgbClr val="CCCCCC"/>
                </a:solidFill>
                <a:latin typeface="Calibri"/>
              </a:rPr>
              <a:t>副次的な検討事項の詳細</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51560"/>
            <a:ext cx="12191695" cy="3810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9728"/>
            <a:ext cx="9144000" cy="320040"/>
          </a:xfrm>
          <a:prstGeom prst="rect">
            <a:avLst/>
          </a:prstGeom>
          <a:noFill/>
        </p:spPr>
        <p:txBody>
          <a:bodyPr wrap="square">
            <a:spAutoFit/>
          </a:bodyPr>
          <a:lstStyle/>
          <a:p>
            <a:pPr algn="l"/>
            <a:r>
              <a:rPr sz="1300" b="1">
                <a:solidFill>
                  <a:srgbClr val="9FC7E8"/>
                </a:solidFill>
                <a:latin typeface="Calibri"/>
              </a:rPr>
              <a:t>APPENDIX — ADR-0010</a:t>
            </a:r>
          </a:p>
        </p:txBody>
      </p:sp>
      <p:sp>
        <p:nvSpPr>
          <p:cNvPr id="5" name="TextBox 4"/>
          <p:cNvSpPr txBox="1"/>
          <p:nvPr/>
        </p:nvSpPr>
        <p:spPr>
          <a:xfrm>
            <a:off x="457200" y="384048"/>
            <a:ext cx="10515600" cy="594360"/>
          </a:xfrm>
          <a:prstGeom prst="rect">
            <a:avLst/>
          </a:prstGeom>
          <a:noFill/>
        </p:spPr>
        <p:txBody>
          <a:bodyPr wrap="square">
            <a:spAutoFit/>
          </a:bodyPr>
          <a:lstStyle/>
          <a:p>
            <a:pPr algn="l"/>
            <a:r>
              <a:rPr sz="2500" b="1">
                <a:solidFill>
                  <a:srgbClr val="FFFFFF"/>
                </a:solidFill>
                <a:latin typeface="Calibri"/>
              </a:rPr>
              <a:t>Appendix A: tree-sitter-bash は不採用と判断</a:t>
            </a:r>
          </a:p>
        </p:txBody>
      </p:sp>
      <p:sp>
        <p:nvSpPr>
          <p:cNvPr id="6" name="Rectangle 5"/>
          <p:cNvSpPr/>
          <p:nvPr/>
        </p:nvSpPr>
        <p:spPr>
          <a:xfrm>
            <a:off x="548640" y="1325880"/>
            <a:ext cx="1737360" cy="777240"/>
          </a:xfrm>
          <a:prstGeom prst="rect">
            <a:avLst/>
          </a:prstGeom>
          <a:solidFill>
            <a:srgbClr val="B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325880"/>
            <a:ext cx="1737360" cy="777240"/>
          </a:xfrm>
          <a:prstGeom prst="rect">
            <a:avLst/>
          </a:prstGeom>
          <a:noFill/>
        </p:spPr>
        <p:txBody>
          <a:bodyPr wrap="square" anchor="ctr">
            <a:spAutoFit/>
          </a:bodyPr>
          <a:lstStyle/>
          <a:p>
            <a:pPr algn="ctr"/>
            <a:r>
              <a:rPr sz="1300" b="1">
                <a:solidFill>
                  <a:srgbClr val="FFFFFF"/>
                </a:solidFill>
                <a:latin typeface="Calibri"/>
              </a:rPr>
              <a:t>懸念・仮説</a:t>
            </a:r>
          </a:p>
        </p:txBody>
      </p:sp>
      <p:sp>
        <p:nvSpPr>
          <p:cNvPr id="8" name="TextBox 7"/>
          <p:cNvSpPr txBox="1"/>
          <p:nvPr/>
        </p:nvSpPr>
        <p:spPr>
          <a:xfrm>
            <a:off x="2423160" y="1325880"/>
            <a:ext cx="9189720" cy="777240"/>
          </a:xfrm>
          <a:prstGeom prst="rect">
            <a:avLst/>
          </a:prstGeom>
          <a:noFill/>
        </p:spPr>
        <p:txBody>
          <a:bodyPr wrap="square" anchor="ctr">
            <a:spAutoFit/>
          </a:bodyPr>
          <a:lstStyle/>
          <a:p>
            <a:pPr algn="l">
              <a:lnSpc>
                <a:spcPct val="125000"/>
              </a:lnSpc>
            </a:pPr>
            <a:r>
              <a:rPr sz="1400" b="0">
                <a:solidFill>
                  <a:srgbClr val="1B2A4A"/>
                </a:solidFill>
                <a:latin typeface="Calibri"/>
              </a:rPr>
              <a:t>Xen のビルドコマンドには if/while/パイプ等の複雑なシェル構文が含まれ、正規表現ベースの既存パーサーでは解析できないのではないか、という仮説から AST パーサー (tree-sitter-bash) の追加を試みた。</a:t>
            </a:r>
          </a:p>
        </p:txBody>
      </p:sp>
      <p:sp>
        <p:nvSpPr>
          <p:cNvPr id="9" name="Rectangle 8"/>
          <p:cNvSpPr/>
          <p:nvPr/>
        </p:nvSpPr>
        <p:spPr>
          <a:xfrm>
            <a:off x="548640" y="2221991"/>
            <a:ext cx="1737360" cy="77724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2221991"/>
            <a:ext cx="1737360" cy="777240"/>
          </a:xfrm>
          <a:prstGeom prst="rect">
            <a:avLst/>
          </a:prstGeom>
          <a:noFill/>
        </p:spPr>
        <p:txBody>
          <a:bodyPr wrap="square" anchor="ctr">
            <a:spAutoFit/>
          </a:bodyPr>
          <a:lstStyle/>
          <a:p>
            <a:pPr algn="ctr"/>
            <a:r>
              <a:rPr sz="1300" b="1">
                <a:solidFill>
                  <a:srgbClr val="FFFFFF"/>
                </a:solidFill>
                <a:latin typeface="Calibri"/>
              </a:rPr>
              <a:t>検証方法</a:t>
            </a:r>
          </a:p>
        </p:txBody>
      </p:sp>
      <p:sp>
        <p:nvSpPr>
          <p:cNvPr id="11" name="TextBox 10"/>
          <p:cNvSpPr txBox="1"/>
          <p:nvPr/>
        </p:nvSpPr>
        <p:spPr>
          <a:xfrm>
            <a:off x="2423160" y="2221991"/>
            <a:ext cx="9189720" cy="777240"/>
          </a:xfrm>
          <a:prstGeom prst="rect">
            <a:avLst/>
          </a:prstGeom>
          <a:noFill/>
        </p:spPr>
        <p:txBody>
          <a:bodyPr wrap="square" anchor="ctr">
            <a:spAutoFit/>
          </a:bodyPr>
          <a:lstStyle/>
          <a:p>
            <a:pPr algn="l">
              <a:lnSpc>
                <a:spcPct val="125000"/>
              </a:lnSpc>
            </a:pPr>
            <a:r>
              <a:rPr sz="1400" b="0">
                <a:solidFill>
                  <a:srgbClr val="1B2A4A"/>
                </a:solidFill>
                <a:latin typeface="Calibri"/>
              </a:rPr>
              <a:t>arm64 ビルドで実際に生成された .cmd ファイルの savedcmd 全 303 件を対象に、「tree-sitter パーサーあり」と「なし」の2パターンで、各コマンドをどのパーサーが処理するかを比較計測した。</a:t>
            </a:r>
          </a:p>
        </p:txBody>
      </p:sp>
      <p:sp>
        <p:nvSpPr>
          <p:cNvPr id="12" name="Rectangle 11"/>
          <p:cNvSpPr/>
          <p:nvPr/>
        </p:nvSpPr>
        <p:spPr>
          <a:xfrm>
            <a:off x="548640" y="3118103"/>
            <a:ext cx="1737360" cy="960120"/>
          </a:xfrm>
          <a:prstGeom prst="rect">
            <a:avLst/>
          </a:prstGeom>
          <a:solidFill>
            <a:srgbClr val="B26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3118103"/>
            <a:ext cx="1737360" cy="960120"/>
          </a:xfrm>
          <a:prstGeom prst="rect">
            <a:avLst/>
          </a:prstGeom>
          <a:noFill/>
        </p:spPr>
        <p:txBody>
          <a:bodyPr wrap="square" anchor="ctr">
            <a:spAutoFit/>
          </a:bodyPr>
          <a:lstStyle/>
          <a:p>
            <a:pPr algn="ctr"/>
            <a:r>
              <a:rPr sz="1300" b="1">
                <a:solidFill>
                  <a:srgbClr val="FFFFFF"/>
                </a:solidFill>
                <a:latin typeface="Calibri"/>
              </a:rPr>
              <a:t>結果 (実測)</a:t>
            </a:r>
          </a:p>
        </p:txBody>
      </p:sp>
      <p:graphicFrame>
        <p:nvGraphicFramePr>
          <p:cNvPr id="14" name="Table 13"/>
          <p:cNvGraphicFramePr>
            <a:graphicFrameLocks noGrp="1"/>
          </p:cNvGraphicFramePr>
          <p:nvPr/>
        </p:nvGraphicFramePr>
        <p:xfrm>
          <a:off x="2423160" y="3118103"/>
          <a:ext cx="9189720" cy="960120"/>
        </p:xfrm>
        <a:graphic>
          <a:graphicData uri="http://schemas.openxmlformats.org/drawingml/2006/table">
            <a:tbl>
              <a:tblPr firstRow="1" bandRow="1">
                <a:tableStyleId>{5C22544A-7EE6-4342-B048-85BDC9FD1C3A}</a:tableStyleId>
              </a:tblPr>
              <a:tblGrid>
                <a:gridCol w="3108960"/>
                <a:gridCol w="1965960"/>
                <a:gridCol w="1965960"/>
                <a:gridCol w="2148840"/>
              </a:tblGrid>
              <a:tr h="480060">
                <a:tc>
                  <a:txBody>
                    <a:bodyPr/>
                    <a:lstStyle/>
                    <a:p>
                      <a:r>
                        <a:rPr b="1" sz="1200">
                          <a:solidFill>
                            <a:srgbClr val="FFFFFF"/>
                          </a:solidFill>
                        </a:rPr>
                        <a:t>追加パーサー</a:t>
                      </a:r>
                    </a:p>
                  </a:txBody>
                  <a:tcPr>
                    <a:solidFill>
                      <a:srgbClr val="1B2A4A"/>
                    </a:solidFill>
                  </a:tcPr>
                </a:tc>
                <a:tc>
                  <a:txBody>
                    <a:bodyPr/>
                    <a:lstStyle/>
                    <a:p>
                      <a:r>
                        <a:rPr b="1" sz="1200">
                          <a:solidFill>
                            <a:srgbClr val="FFFFFF"/>
                          </a:solidFill>
                        </a:rPr>
                        <a:t>未知を救済</a:t>
                      </a:r>
                    </a:p>
                  </a:txBody>
                  <a:tcPr>
                    <a:solidFill>
                      <a:srgbClr val="1B2A4A"/>
                    </a:solidFill>
                  </a:tcPr>
                </a:tc>
                <a:tc>
                  <a:txBody>
                    <a:bodyPr/>
                    <a:lstStyle/>
                    <a:p>
                      <a:r>
                        <a:rPr b="1" sz="1200">
                          <a:solidFill>
                            <a:srgbClr val="FFFFFF"/>
                          </a:solidFill>
                        </a:rPr>
                        <a:t>上流から奪取</a:t>
                      </a:r>
                    </a:p>
                  </a:txBody>
                  <a:tcPr>
                    <a:solidFill>
                      <a:srgbClr val="1B2A4A"/>
                    </a:solidFill>
                  </a:tcPr>
                </a:tc>
                <a:tc>
                  <a:txBody>
                    <a:bodyPr/>
                    <a:lstStyle/>
                    <a:p>
                      <a:r>
                        <a:rPr b="1" sz="1200">
                          <a:solidFill>
                            <a:srgbClr val="FFFFFF"/>
                          </a:solidFill>
                        </a:rPr>
                        <a:t>評価</a:t>
                      </a:r>
                    </a:p>
                  </a:txBody>
                  <a:tcPr>
                    <a:solidFill>
                      <a:srgbClr val="1B2A4A"/>
                    </a:solidFill>
                  </a:tcPr>
                </a:tc>
              </a:tr>
              <a:tr h="480060">
                <a:tc>
                  <a:txBody>
                    <a:bodyPr/>
                    <a:lstStyle/>
                    <a:p>
                      <a:pPr algn="l"/>
                      <a:r>
                        <a:rPr sz="1200" b="0">
                          <a:solidFill>
                            <a:srgbClr val="1B2A4A"/>
                          </a:solidFill>
                        </a:rPr>
                        <a:t>tree-sitter-bash</a:t>
                      </a:r>
                    </a:p>
                    <a:p>
                      <a:pPr algn="l"/>
                      <a:r>
                        <a:rPr sz="1200" b="0">
                          <a:solidFill>
                            <a:srgbClr val="1B2A4A"/>
                          </a:solidFill>
                        </a:rPr>
                        <a:t>(_parse_complex_shell_command)</a:t>
                      </a:r>
                    </a:p>
                  </a:txBody>
                  <a:tcPr>
                    <a:solidFill>
                      <a:srgbClr val="F4F6F9"/>
                    </a:solidFill>
                  </a:tcPr>
                </a:tc>
                <a:tc>
                  <a:txBody>
                    <a:bodyPr/>
                    <a:lstStyle/>
                    <a:p>
                      <a:pPr algn="ctr"/>
                      <a:r>
                        <a:rPr sz="1200" b="0">
                          <a:solidFill>
                            <a:srgbClr val="1B2A4A"/>
                          </a:solidFill>
                        </a:rPr>
                        <a:t>0 件</a:t>
                      </a:r>
                    </a:p>
                  </a:txBody>
                  <a:tcPr>
                    <a:solidFill>
                      <a:srgbClr val="F4F6F9"/>
                    </a:solidFill>
                  </a:tcPr>
                </a:tc>
                <a:tc>
                  <a:txBody>
                    <a:bodyPr/>
                    <a:lstStyle/>
                    <a:p>
                      <a:pPr algn="ctr"/>
                      <a:r>
                        <a:rPr sz="1200" b="0">
                          <a:solidFill>
                            <a:srgbClr val="B00000"/>
                          </a:solidFill>
                        </a:rPr>
                        <a:t>7 件</a:t>
                      </a:r>
                    </a:p>
                  </a:txBody>
                  <a:tcPr>
                    <a:solidFill>
                      <a:srgbClr val="F4F6F9"/>
                    </a:solidFill>
                  </a:tcPr>
                </a:tc>
                <a:tc>
                  <a:txBody>
                    <a:bodyPr/>
                    <a:lstStyle/>
                    <a:p>
                      <a:pPr algn="ctr"/>
                      <a:r>
                        <a:rPr sz="1200" b="1">
                          <a:solidFill>
                            <a:srgbClr val="1B2A4A"/>
                          </a:solidFill>
                        </a:rPr>
                        <a:t>純粋な退行</a:t>
                      </a:r>
                    </a:p>
                  </a:txBody>
                  <a:tcPr>
                    <a:solidFill>
                      <a:srgbClr val="F4F6F9"/>
                    </a:solidFill>
                  </a:tcPr>
                </a:tc>
              </a:tr>
            </a:tbl>
          </a:graphicData>
        </a:graphic>
      </p:graphicFrame>
      <p:sp>
        <p:nvSpPr>
          <p:cNvPr id="15" name="TextBox 14"/>
          <p:cNvSpPr txBox="1"/>
          <p:nvPr/>
        </p:nvSpPr>
        <p:spPr>
          <a:xfrm>
            <a:off x="2423160" y="4215383"/>
            <a:ext cx="9189720" cy="365760"/>
          </a:xfrm>
          <a:prstGeom prst="rect">
            <a:avLst/>
          </a:prstGeom>
          <a:noFill/>
        </p:spPr>
        <p:txBody>
          <a:bodyPr wrap="square">
            <a:spAutoFit/>
          </a:bodyPr>
          <a:lstStyle/>
          <a:p>
            <a:pPr algn="l"/>
            <a:r>
              <a:rPr sz="1200" b="0">
                <a:solidFill>
                  <a:srgbClr val="555555"/>
                </a:solidFill>
                <a:latin typeface="Calibri"/>
              </a:rPr>
              <a:t>※ 導入根拠だった「解析成功率 48% → 99.6%」は一度も実測されておらず、実装前の期待値に過ぎなかった</a:t>
            </a:r>
          </a:p>
        </p:txBody>
      </p:sp>
      <p:sp>
        <p:nvSpPr>
          <p:cNvPr id="16" name="Rectangle 15"/>
          <p:cNvSpPr/>
          <p:nvPr/>
        </p:nvSpPr>
        <p:spPr>
          <a:xfrm>
            <a:off x="548640" y="4672583"/>
            <a:ext cx="1737360" cy="77724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8640" y="4672583"/>
            <a:ext cx="1737360" cy="777240"/>
          </a:xfrm>
          <a:prstGeom prst="rect">
            <a:avLst/>
          </a:prstGeom>
          <a:noFill/>
        </p:spPr>
        <p:txBody>
          <a:bodyPr wrap="square" anchor="ctr">
            <a:spAutoFit/>
          </a:bodyPr>
          <a:lstStyle/>
          <a:p>
            <a:pPr algn="ctr"/>
            <a:r>
              <a:rPr sz="1300" b="1">
                <a:solidFill>
                  <a:srgbClr val="FFFFFF"/>
                </a:solidFill>
                <a:latin typeface="Calibri"/>
              </a:rPr>
              <a:t>結論</a:t>
            </a:r>
          </a:p>
        </p:txBody>
      </p:sp>
      <p:sp>
        <p:nvSpPr>
          <p:cNvPr id="18" name="TextBox 17"/>
          <p:cNvSpPr txBox="1"/>
          <p:nvPr/>
        </p:nvSpPr>
        <p:spPr>
          <a:xfrm>
            <a:off x="2423160" y="4672583"/>
            <a:ext cx="9189720" cy="777240"/>
          </a:xfrm>
          <a:prstGeom prst="rect">
            <a:avLst/>
          </a:prstGeom>
          <a:noFill/>
        </p:spPr>
        <p:txBody>
          <a:bodyPr wrap="square" anchor="ctr">
            <a:spAutoFit/>
          </a:bodyPr>
          <a:lstStyle/>
          <a:p>
            <a:pPr algn="l">
              <a:lnSpc>
                <a:spcPct val="125000"/>
              </a:lnSpc>
            </a:pPr>
            <a:r>
              <a:rPr sz="1400" b="1">
                <a:solidFill>
                  <a:srgbClr val="1B2A4A"/>
                </a:solidFill>
                <a:latin typeface="Calibri"/>
              </a:rPr>
              <a:t>実測データに基づき不採用と判断(ADR-0010)。実験コードは experiment/tree-sitter-bash ブランチへ分離し、本流には含めない。教訓: 期待値ではなく実測で判断する。</a:t>
            </a:r>
          </a:p>
        </p:txBody>
      </p:sp>
      <p:sp>
        <p:nvSpPr>
          <p:cNvPr id="19" name="TextBox 18"/>
          <p:cNvSpPr txBox="1"/>
          <p:nvPr/>
        </p:nvSpPr>
        <p:spPr>
          <a:xfrm>
            <a:off x="548640" y="6400800"/>
            <a:ext cx="11064240" cy="274320"/>
          </a:xfrm>
          <a:prstGeom prst="rect">
            <a:avLst/>
          </a:prstGeom>
          <a:noFill/>
        </p:spPr>
        <p:txBody>
          <a:bodyPr wrap="square">
            <a:spAutoFit/>
          </a:bodyPr>
          <a:lstStyle/>
          <a:p>
            <a:pPr algn="l"/>
            <a:r>
              <a:rPr sz="1050" b="0">
                <a:solidFill>
                  <a:srgbClr val="555555"/>
                </a:solidFill>
                <a:latin typeface="Calibri"/>
              </a:rPr>
              <a:t>出典: docs/{en,ja}/07-arm64-parser-gap-analysis.md §4、worklog/decisions.md ADR-0010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